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style val="13"/>
  <c:chart>
    <c:autoTitleDeleted val="1"/>
    <c:plotArea>
      <c:scatterChart>
        <c:scatterStyle val="lineMarker"/>
        <c:varyColors val="0"/>
        <c:ser>
          <c:idx val="0"/>
          <c:order val="0"/>
          <c:tx>
            <c:strRef>
              <c:f>Sheet1!$B$1</c:f>
              <c:strCache>
                <c:ptCount val="1"/>
                <c:pt idx="0">
                  <c:v>C124S</c:v>
                </c:pt>
              </c:strCache>
            </c:strRef>
          </c:tx>
          <c:spPr>
            <a:ln w="47625">
              <a:noFill/>
            </a:ln>
          </c:spPr>
          <c:marker>
            <c:symbol val="circle"/>
            <c:size val="12"/>
            <c:spPr>
              <a:solidFill>
                <a:srgbClr val="226B60"/>
              </a:solidFill>
              <a:ln>
                <a:solidFill>
                  <a:srgbClr val="226B60"/>
                </a:solidFill>
              </a:ln>
            </c:spPr>
          </c:marker>
          <c:xVal>
            <c:numRef>
              <c:f>Sheet1!$A$2:$A$2</c:f>
              <c:numCache>
                <c:formatCode>General</c:formatCode>
                <c:ptCount val="1"/>
                <c:pt idx="0">
                  <c:v>-4.895642908999999</c:v>
                </c:pt>
              </c:numCache>
            </c:numRef>
          </c:xVal>
          <c:yVal>
            <c:numRef>
              <c:f>Sheet1!$B$2:$B$2</c:f>
              <c:numCache>
                <c:formatCode>General</c:formatCode>
                <c:ptCount val="1"/>
                <c:pt idx="0">
                  <c:v>1.04741806408857</c:v>
                </c:pt>
              </c:numCache>
            </c:numRef>
          </c:yVal>
          <c:smooth val="0"/>
        </c:ser>
        <c:ser>
          <c:idx val="1"/>
          <c:order val="1"/>
          <c:tx>
            <c:strRef>
              <c:f>Sheet1!$B$4</c:f>
              <c:strCache>
                <c:ptCount val="1"/>
                <c:pt idx="0">
                  <c:v>Y16T</c:v>
                </c:pt>
              </c:strCache>
            </c:strRef>
          </c:tx>
          <c:spPr>
            <a:ln w="47625">
              <a:noFill/>
            </a:ln>
          </c:spPr>
          <c:marker>
            <c:symbol val="diamond"/>
            <c:size val="12"/>
            <c:spPr>
              <a:solidFill>
                <a:srgbClr val="9E5837"/>
              </a:solidFill>
              <a:ln>
                <a:solidFill>
                  <a:srgbClr val="9E5837"/>
                </a:solidFill>
              </a:ln>
            </c:spPr>
          </c:marker>
          <c:xVal>
            <c:numRef>
              <c:f>Sheet1!$A$5:$A$5</c:f>
              <c:numCache>
                <c:formatCode>General</c:formatCode>
                <c:ptCount val="1"/>
                <c:pt idx="0">
                  <c:v>-0.281762937</c:v>
                </c:pt>
              </c:numCache>
            </c:numRef>
          </c:xVal>
          <c:yVal>
            <c:numRef>
              <c:f>Sheet1!$B$5:$B$5</c:f>
              <c:numCache>
                <c:formatCode>General</c:formatCode>
                <c:ptCount val="1"/>
                <c:pt idx="0">
                  <c:v>0.878622335811746</c:v>
                </c:pt>
              </c:numCache>
            </c:numRef>
          </c:yVal>
          <c:smooth val="0"/>
        </c:ser>
        <c:axId val="-2128940872"/>
        <c:axId val="-2129643912"/>
      </c:scatterChart>
      <c:valAx>
        <c:axId val="-2128940872"/>
        <c:scaling>
          <c:orientation val="minMax"/>
          <c:max val="0.5"/>
          <c:min val="-5.5"/>
        </c:scaling>
        <c:delete val="0"/>
        <c:axPos val="b"/>
        <c:title>
          <c:tx>
            <c:rich>
              <a:bodyPr/>
              <a:lstStyle/>
              <a:p>
                <a:pPr>
                  <a:defRPr sz="1400">
                    <a:latin typeface="Arial"/>
                  </a:defRPr>
                </a:pPr>
                <a:r>
                  <a:t>Activity · native yeast enrichment</a:t>
                </a:r>
              </a:p>
            </c:rich>
          </c:tx>
          <c:layout/>
          <c:overlay val="0"/>
        </c:title>
        <c:numFmt formatCode="General" sourceLinked="1"/>
        <c:majorTickMark val="none"/>
        <c:minorTickMark val="none"/>
        <c:tickLblPos val="nextTo"/>
        <c:txPr>
          <a:bodyPr/>
          <a:lstStyle/>
          <a:p>
            <a:pPr>
              <a:defRPr sz="1200">
                <a:latin typeface="Arial"/>
              </a:defRPr>
            </a:pPr>
          </a:p>
        </c:txPr>
        <c:crossAx val="-2129643912"/>
        <c:crossesAt val="0.4"/>
        <c:crossBetween val="midCat"/>
        <c:majorUnit val="1.0"/>
      </c:valAx>
      <c:valAx>
        <c:axId val="-2129643912"/>
        <c:scaling>
          <c:orientation val="minMax"/>
          <c:max val="1.2"/>
          <c:min val="0.4"/>
        </c:scaling>
        <c:delete val="0"/>
        <c:axPos val="l"/>
        <c:title>
          <c:tx>
            <c:rich>
              <a:bodyPr/>
              <a:lstStyle/>
              <a:p>
                <a:pPr>
                  <a:defRPr sz="1400">
                    <a:latin typeface="Arial"/>
                  </a:defRPr>
                </a:pPr>
                <a:r>
                  <a:t>Abundance · native VAMP-seq</a:t>
                </a:r>
              </a:p>
            </c:rich>
          </c:tx>
          <c:layout/>
          <c:overlay val="0"/>
        </c:title>
        <c:numFmt formatCode="General" sourceLinked="1"/>
        <c:majorTickMark val="none"/>
        <c:minorTickMark val="none"/>
        <c:tickLblPos val="nextTo"/>
        <c:txPr>
          <a:bodyPr/>
          <a:lstStyle/>
          <a:p>
            <a:pPr>
              <a:defRPr sz="1200">
                <a:latin typeface="Arial"/>
              </a:defRPr>
            </a:pPr>
          </a:p>
        </c:txPr>
        <c:crossAx val="-2128940872"/>
        <c:crossesAt val="-5.5"/>
        <c:crossBetween val="midCat"/>
        <c:majorUnit val="0.2"/>
      </c:valAx>
    </c:plotArea>
    <c:legend>
      <c:legendPos val="b"/>
      <c:layout/>
      <c:overlay val="0"/>
    </c:legend>
    <c:plotVisOnly val="1"/>
    <c:dispBlanksAs val="gap"/>
    <c:showDLblsOverMax val="0"/>
  </c:chart>
  <c:txPr>
    <a:bodyPr/>
    <a:lstStyle/>
    <a:p>
      <a:pPr>
        <a:defRPr sz="13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(20 seconds). Which mutation should we investigate next, and why? Bramha Atlas connects existing measurements, source evidence and reference structure into a research decision a scientist can inspect and reproduce. This is a computational research prototype. The frame is an actual saved PTEN workspace, not an animated simulation.</a:t>
            </a:r>
          </a:p>
          <a:p>
            <a:r>
              <a:t>Opening demo: use the button to My Research and select “Inspect saved baseline”. Walk through the 90-second script in DEMO.md. Recorded evidence is the reliable default; do not call it a live Argon run. If the local app is unavailable, use the supplied frames and continue on slide 4.</a:t>
            </a:r>
          </a:p>
          <a:p/>
          <a:p>
            <a:r>
              <a:t>SOURCES / EVIDENCE</a:t>
            </a:r>
          </a:p>
          <a:p>
            <a:r>
              <a:t>Production emblem: frontend/public/branding/bramha-emblem.png; source/reference-check.json; assets/linked-structure-results.png.</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Imagine a small functional-genomics team with several variant explanations and limited experimental capacity. A public activity score, an abundance observation, a structure and a paper each tell only part of the story. The working hypothesis is that the expensive handoff is connecting those sources to a defensible next question. We have not measured the frequency or cost of this pain with customers yet.</a:t>
            </a:r>
          </a:p>
          <a:p/>
          <a:p>
            <a:r>
              <a:t>SOURCES / EVIDENCE</a:t>
            </a:r>
          </a:p>
          <a:p>
            <a:r>
              <a:t>Customer scenario is an illustrative workflow hypothesis; no measured time savings or customer traction claimed.</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 unit of value is a reviewable investigation, rather than an isolated chat response. Data and numerical operations retain inputs and versions. The researcher checks the result and chooses a follow-up. The diagram describes the supported investigation workflow; it does not mean every step invokes a model. The quantitative mission runs deterministic Python without an LLM.</a:t>
            </a:r>
          </a:p>
          <a:p/>
          <a:p>
            <a:r>
              <a:t>SOURCES / EVIDENCE</a:t>
            </a:r>
          </a:p>
          <a:p>
            <a:r>
              <a:t>docs/EXPERIMENT_EXECUTION_AUDIT.md; docs/EXPERIMENT_ANALYSIS_DELIVERY.md; backend/app/analysis_execution.py; backend/app/analysis_results.py.</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Open the saved baseline, not the model execution screen. The three selected substitutions are C124S, R172H and Y16T. These are human PTEN protein substitutions against canonical P60484, not uniquely inferred DNA alleles. The snapshot combines two distinct public MaveDB score sets and accepted reference mappings. All three selected positions map; this case does not demonstrate missing coordinates. The missingness is R172H abundance. Ask: which selected variants meet the assay-specific criteria, what structural context is available, and what remains unresolved? Show the saved inputs and the missing row.</a:t>
            </a:r>
          </a:p>
          <a:p>
            <a:r>
              <a:t>Local baseline: http://localhost:8500/research/project-c5786c930ae040d693910c78a4a548eb/workspace?view=analysis&amp;analysis_run=research-4df547659b0949898f8ec40e00ee071c</a:t>
            </a:r>
          </a:p>
          <a:p/>
          <a:p>
            <a:r>
              <a:t>SOURCES / EVIDENCE</a:t>
            </a:r>
          </a:p>
          <a:p>
            <a:r>
              <a:t>source/reference-check.json; source/assay-dictionary.json; source/source-manifest.json. Original records: https://www.mavedb.org/score-sets/urn:mavedb:00000054-a-1 and https://www.mavedb.org/score-sets/urn:mavedb:00000102-0-1. Dataset pten-transform-1.0-97b699d687c8.</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 x axis is published enrichment/fitness in a humanized yeast model; it is not a direct clinical activity score. The y axis is the native VAMP-seq abundance score, not a probability and not clamped to 0–1. The chart contains only the two paired profiles. R172H remains visible in the accompanying table, but is not plotted with an invented y value. Values on the slide are rounded for readability; the workbook and reference JSON preserve full precision. The displayed boundaries are exploratory analytical rules. Native activity/abundance values cannot be subtracted or treated as a common scale. Reported uncertainty metadata is retained in the source; no inferential conclusion is drawn here.</a:t>
            </a:r>
          </a:p>
          <a:p/>
          <a:p>
            <a:r>
              <a:t>SOURCES / EVIDENCE</a:t>
            </a:r>
          </a:p>
          <a:p>
            <a:r>
              <a:t>source/reference-check.json; source/assay-dictionary.json; source/source-manifest.json. Original records: https://www.mavedb.org/score-sets/urn:mavedb:00000054-a-1 and https://www.mavedb.org/score-sets/urn:mavedb:00000102-0-1. Dataset pten-transform-1.0-97b699d687c8.</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These are experimental reference coordinates from 1D5R. The mapping checks sequence identity and observed C-alpha correspondence. It is a precomputed audited reference-to-construct alignment, not a new alignment every time the viewer opens. All three chosen substitutions are mapped in this saved report. A selected side chain or colored residue is a substitution annotation; it does not compute a mutant fold. Distances are reference-coordinate Euclidean distances when coordinates are available; proximity alone does not establish a shared mechanism.</a:t>
            </a:r>
          </a:p>
          <a:p/>
          <a:p>
            <a:r>
              <a:t>SOURCES / EVIDENCE</a:t>
            </a:r>
          </a:p>
          <a:p>
            <a:r>
              <a:t>source/reference-check.json; source/assay-dictionary.json; source/source-manifest.json. Original records: https://www.mavedb.org/score-sets/urn:mavedb:00000054-a-1 and https://www.mavedb.org/score-sets/urn:mavedb:00000102-0-1. Dataset pten-transform-1.0-97b699d687c8. Reference coordinates: https://www.rcsb.org/structure/1D5R ; UniProt: https://www.uniprot.org/uniprotkb/P60484/entry .</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This is a saved analytical sensitivity check, separate from the model-backed investigation. The activity ceiling changes from -1.11 to 10. The abundance boundary remains 0.6121866579147568. Selection, source versions, mapping policy and the paired-measurement requirement remain fixed. A ceiling of 10 is deliberately permissive, not an established biological threshold. C124S remains selected and Y16T enters. R172H stays unresolved because its abundance value is absent. This changed analytical set does not demonstrate a new biological effect, a causal mechanism or an agent-generated hypothesis revision. Baseline and follow-up made zero model requests.</a:t>
            </a:r>
          </a:p>
          <a:p>
            <a:r>
              <a:t>Saved follow-up: http://localhost:8500/research/project-c5786c930ae040d693910c78a4a548eb/workspace?view=analysis&amp;analysis_run=research-6be0a905e61a40eda99c4bcce147da1d</a:t>
            </a:r>
          </a:p>
          <a:p/>
          <a:p>
            <a:r>
              <a:t>SOURCES / EVIDENCE</a:t>
            </a:r>
          </a:p>
          <a:p>
            <a:r>
              <a:t>source/reference-check.json; source/assay-dictionary.json; source/source-manifest.json. Original records: https://www.mavedb.org/score-sets/urn:mavedb:00000054-a-1 and https://www.mavedb.org/score-sets/urn:mavedb:00000102-0-1. Dataset pten-transform-1.0-97b699d687c8. Baseline research-4df547659b0949898f8ec40e00ee071c; follow-up research-6be0a905e61a40eda99c4bcce147da1d.</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This diagram reflects one actual saved completed-with-limitations run. There is one model research lead and four delegated workers: a deterministic identity validator, an independent model assay reviewer, an independent model structure reviewer, and a deterministic artifact verifier. Both independent model reviews began after identity validation and their saved intervals overlap. There were five model requests, ten deterministic tool calls and eleven saved messages. This proves this saved task network and artifact handoffs, not external A2A protocol interoperability or unrestricted replication. It used OpenRouter / x-ai/grok-4.3; do not attribute this run to Argon. Argon is the intended integration and remains unverified. No private reasoning traces are displayed.</a:t>
            </a:r>
          </a:p>
          <a:p>
            <a:r>
              <a:t>Open saved recorded result: http://localhost:8500/research/project-c5786c930ae040d693910c78a4a548eb/investigations/research-00f7ec8b7690404db6f033a509507c8c</a:t>
            </a:r>
          </a:p>
          <a:p/>
          <a:p>
            <a:r>
              <a:t>SOURCES / EVIDENCE</a:t>
            </a:r>
          </a:p>
          <a:p>
            <a:r>
              <a:t>source/agent-run.json; backend/app/orchestration/agent_network.py; assets/agent-network.png. Actual provider: OpenRouter / x-ai/grok-4.3. Argon remains unverified; source/argon-check.json.</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baseline supports a descriptive statement: C124S meets this declared paired rule. It does not establish the biological reason. R172H cannot be evaluated with that paired rule because abundance is missing. The follow-up adds Y16T only after the criterion is changed. The next research question is whether additional applicable evidence can distinguish functional loss from abundance-related explanations. That is a research proposal, not a reported result or causal conclusion. A genuine autonomous limitation-driven revision is not established by this artifact set; the deterministic criterion change must not be sold as that behavior.</a:t>
            </a:r>
          </a:p>
          <a:p/>
          <a:p>
            <a:r>
              <a:t>SOURCES / EVIDENCE</a:t>
            </a:r>
          </a:p>
          <a:p>
            <a:r>
              <a:t>source/reference-check.json; source/assay-dictionary.json; source/source-manifest.json. Original records: https://www.mavedb.org/score-sets/urn:mavedb:00000054-a-1 and https://www.mavedb.org/score-sets/urn:mavedb:00000102-0-1. Dataset pten-transform-1.0-97b699d687c8. source/agent-run.json. Adaptive limitation-driven model revision is not verified by this threshold comparison.</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public corpus is persisted in MongoDB Atlas; project questions, investigations and operation results remain in the configured local store. Deterministic Python tools execute numerical analysis. The lead and scoped model reviewers interpret bounded evidence, with artifact checks. The contextual Bramha Assistant is distinct from investigation agents. The stored passage vectors use a local pretrained multilingual embedding model. A recorded ready Atlas vector index does not by itself certify a full hybrid retrieval query; that integration must be separately verified. This is a conceptual architecture diagram, not a claim that every source is always queried for every run.</a:t>
            </a:r>
          </a:p>
          <a:p/>
          <a:p>
            <a:r>
              <a:t>SOURCES / EVIDENCE</a:t>
            </a:r>
          </a:p>
          <a:p>
            <a:r>
              <a:t>docs/MONGODB_DATA_CONSOLE.md; source/storage-check.json; backend/app/analysis_execution.py; backend/app/corpus_store.py; backend/app/research_hub.py; frontend/src/workspace/ResearchHub.tsx.</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These rows distinguish demonstrated and pending work. The numerical mission has an audited saved baseline and follow-up. The independent agent team has a successful saved fallback-provider run, completed with limitations. Atlas has a connected public-corpus snapshot with 480 studies and 4,784 passages, distinct from project-state persistence. Supplied-model alignment also exists but is not the core pitch demonstration. Argon scientific execution, a verified end-to-end hybrid retrieval claim, autonomous limitation-driven revision in this case, and clinical validation are not established by these artifacts. Repository software checks do not validate biology.</a:t>
            </a:r>
          </a:p>
          <a:p/>
          <a:p>
            <a:r>
              <a:t>SOURCES / EVIDENCE</a:t>
            </a:r>
          </a:p>
          <a:p>
            <a:r>
              <a:t>source/reference-check.json; source/agent-run.json; source/storage-check.json; source/argon-check.json; docs/EXPERIMENT_ANALYSIS_DELIVERY.md. Counts are the recorded 25 October 2026 snapshot.</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Start with academic functional-genomics labs and small biotech research teams already interpreting public or internally reviewed variant evidence. The first job is a reviewable computational shortlist and an explicit list of missing evidence. The proposal is a small design-partner pilot using scoped, nonclinical research questions. We have not established customer demand, procurement fit or willingness to pay. Use expert feedback to narrow the workflow before expanding genes or organization-wide use.</a:t>
            </a:r>
          </a:p>
          <a:p/>
          <a:p>
            <a:r>
              <a:t>SOURCES / EVIDENCE</a:t>
            </a:r>
          </a:p>
          <a:p>
            <a:r>
              <a:t>Proposed customer segmentation and pilot design are hypotheses; no signed pilots or validated willingness to pay claimed.</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These products overlap with parts of the workflow and should be treated fairly. Benchling describes agentic R&amp;D workflows and scientific context, so do not claim that competitors lack agents. Galaxy provides reproducible computational workflows. MaveDB provides variant-effect data; its related interfaces already expose multi-assay and structural interpretation. Europe PMC enables life-science literature discovery and reading. Our proposed distinction is a narrowly scoped investigation record that connects declared criteria, actual tool artifacts, source coverage and explicit unknowns; uniqueness and superiority are not established. Grand View Research estimates the broad global drug-discovery-informatics category at $3.65 billion in 2024. That is market context, not Bramha Atlas TAM, valuation, attainable revenue or a primary-source measurement. We do not sum overlapping markets.</a:t>
            </a:r>
          </a:p>
          <a:p/>
          <a:p>
            <a:r>
              <a:t>SOURCES / EVIDENCE</a:t>
            </a:r>
          </a:p>
          <a:p>
            <a:r>
              <a:t>Official pages checked 25 October 2026: Benchling https://www.benchling.com/ ; Galaxy https://galaxyproject.org/ ; MaveDB https://mavedb.org/docs/mavedb/index.html and https://www.mavedb.org/docs/mavedb/mavemd/variant-page.html ; Europe PMC https://europepmc.org/about . Market context: Grand View Research https://www.grandviewresearch.com/horizon/outlook/drug-discovery-informatics-market-size/global .</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Pricing is a hypothesis to test with the pilot participants. A research individual tier could start around $30 per month and a small-lab tier around $300 per month, with explicit execution budgets and usage limits. These prices are not current commercial offers. The illustrative calculation uses only lab subscriptions: twenty hypothetical labs at three hundred dollars monthly produce seventy-two thousand dollars of annual subscription revenue before costs, churn, discounts or taxes. It is not booked ARR or a financial forecast. The one recorded model-run cost is not enough to infer unit economics; measure support, compute, storage and model usage during pilots.</a:t>
            </a:r>
          </a:p>
          <a:p/>
          <a:p>
            <a:r>
              <a:t>SOURCES / EVIDENCE</a:t>
            </a:r>
          </a:p>
          <a:p>
            <a:r>
              <a:t>All prices, customer counts and revenue values on this slide are proposed assumptions. Arithmetic only: 20 labs × US$300/month × 12 = US$72,000/year; no traction, forecast, profit or valuation claim.</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Propose three to five design-partner labs, starting with agreed public or permissioned nonclinical questions. Freeze the questions and evaluation rubric before the trial. Have a domain expert score applicability, source support and error handling, while a researcher records completion time and time spent checking. Compare against each lab’s current process; do not publish an efficiency gain without the measurements and context. Expand to another gene only after source acquisition, assay interpretation and mapping checks pass. Department adoption should follow evidence of repeat use, exportability and acceptable support costs.</a:t>
            </a:r>
          </a:p>
          <a:p/>
          <a:p>
            <a:r>
              <a:t>SOURCES / EVIDENCE</a:t>
            </a:r>
          </a:p>
          <a:p>
            <a:r>
              <a:t>Proposed evaluation plan; pilot counts, durations and success criteria are design hypotheses, not completed customer research.</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 next milestones are a verified Argon scientific run, independent researcher evaluation of this bounded workflow, and validated expansion beyond the initial PTEN mission. We are seeking pilot laboratories and scientific advisers who can bring a scoped research question and challenge the evidence, assumptions and next-step usefulness. Longer-term, portable research packages and permissioned collaboration may extend the workflow, but are not required for this initial demonstration. Close on one request: bring one research question and help us test whether the resulting decision record is useful.</a:t>
            </a:r>
          </a:p>
          <a:p/>
          <a:p>
            <a:r>
              <a:t>SOURCES / EVIDENCE</a:t>
            </a:r>
          </a:p>
          <a:p>
            <a:r>
              <a:t>Roadmap and partner request are prospective. Argon status: source/argon-check.json. Gene expansion and independent scientific evaluation remain future milestones.</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localhost:8500/research" TargetMode="External"/><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EVIDENCE THAT LEADS SOMEWHERE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Bramha Atlas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01</a:t>
            </a:r>
          </a:p>
        </p:txBody>
      </p:sp>
      <p:pic>
        <p:nvPicPr>
          <p:cNvPr id="7" name="Picture 6" descr="emblem.png"/>
          <p:cNvPicPr>
            <a:picLocks noChangeAspect="1"/>
          </p:cNvPicPr>
          <p:nvPr/>
        </p:nvPicPr>
        <p:blipFill>
          <a:blip r:embed="rId3"/>
          <a:stretch>
            <a:fillRect/>
          </a:stretch>
        </p:blipFill>
        <p:spPr>
          <a:xfrm>
            <a:off x="585216" y="2022038"/>
            <a:ext cx="1051560" cy="1396603"/>
          </a:xfrm>
          <a:prstGeom prst="rect">
            <a:avLst/>
          </a:prstGeom>
        </p:spPr>
      </p:pic>
      <p:sp>
        <p:nvSpPr>
          <p:cNvPr id="8" name="TextBox 7"/>
          <p:cNvSpPr txBox="1"/>
          <p:nvPr/>
        </p:nvSpPr>
        <p:spPr>
          <a:xfrm>
            <a:off x="594360" y="3611880"/>
            <a:ext cx="5486400" cy="1600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Which mutation should</a:t>
            </a:r>
          </a:p>
          <a:p>
            <a:pPr>
              <a:lnSpc>
                <a:spcPct val="112000"/>
              </a:lnSpc>
              <a:spcBef>
                <a:spcPts val="0"/>
              </a:spcBef>
              <a:spcAft>
                <a:spcPts val="400"/>
              </a:spcAft>
              <a:defRPr sz="3000" b="1">
                <a:solidFill>
                  <a:srgbClr val="193B3B"/>
                </a:solidFill>
                <a:latin typeface="Arial"/>
              </a:defRPr>
            </a:pPr>
            <a:r>
              <a:t>we investigate next,</a:t>
            </a:r>
          </a:p>
          <a:p>
            <a:pPr>
              <a:lnSpc>
                <a:spcPct val="112000"/>
              </a:lnSpc>
              <a:spcBef>
                <a:spcPts val="0"/>
              </a:spcBef>
              <a:spcAft>
                <a:spcPts val="400"/>
              </a:spcAft>
              <a:defRPr sz="3000" b="1">
                <a:solidFill>
                  <a:srgbClr val="193B3B"/>
                </a:solidFill>
                <a:latin typeface="Arial"/>
              </a:defRPr>
            </a:pPr>
            <a:r>
              <a:t>and why?</a:t>
            </a:r>
          </a:p>
        </p:txBody>
      </p:sp>
      <p:sp>
        <p:nvSpPr>
          <p:cNvPr id="9" name="TextBox 8"/>
          <p:cNvSpPr txBox="1"/>
          <p:nvPr/>
        </p:nvSpPr>
        <p:spPr>
          <a:xfrm>
            <a:off x="594360" y="5404104"/>
            <a:ext cx="5486400" cy="36576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Reviewable research, connected to evidence.</a:t>
            </a:r>
          </a:p>
        </p:txBody>
      </p:sp>
      <p:sp>
        <p:nvSpPr>
          <p:cNvPr id="10" name="Rounded Rectangle 9">
            <a:hlinkClick r:id="rId4"/>
          </p:cNvPr>
          <p:cNvSpPr/>
          <p:nvPr/>
        </p:nvSpPr>
        <p:spPr>
          <a:xfrm>
            <a:off x="594360" y="5879592"/>
            <a:ext cx="2651760" cy="329184"/>
          </a:xfrm>
          <a:prstGeom prst="roundRect">
            <a:avLst>
              <a:gd name="adj" fmla="val 6000"/>
            </a:avLst>
          </a:prstGeom>
          <a:solidFill>
            <a:srgbClr val="226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939028"/>
            <a:ext cx="2432304"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OPEN THE PTEN DEMO  →</a:t>
            </a:r>
          </a:p>
        </p:txBody>
      </p:sp>
      <p:sp>
        <p:nvSpPr>
          <p:cNvPr id="12" name="Rounded Rectangle 11"/>
          <p:cNvSpPr/>
          <p:nvPr/>
        </p:nvSpPr>
        <p:spPr>
          <a:xfrm>
            <a:off x="6400800" y="1783080"/>
            <a:ext cx="5285232" cy="4407408"/>
          </a:xfrm>
          <a:prstGeom prst="roundRect">
            <a:avLst>
              <a:gd name="adj" fmla="val 6000"/>
            </a:avLst>
          </a:prstGeom>
          <a:solidFill>
            <a:srgbClr val="0B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nked-structure-results.png"/>
          <p:cNvPicPr>
            <a:picLocks noChangeAspect="1"/>
          </p:cNvPicPr>
          <p:nvPr/>
        </p:nvPicPr>
        <p:blipFill>
          <a:blip r:embed="rId5"/>
          <a:srcRect l="1600" t="22900" r="52400" b="30100"/>
          <a:stretch>
            <a:fillRect/>
          </a:stretch>
        </p:blipFill>
        <p:spPr>
          <a:xfrm>
            <a:off x="6537960" y="1920240"/>
            <a:ext cx="5010912" cy="4014215"/>
          </a:xfrm>
          <a:prstGeom prst="rect">
            <a:avLst/>
          </a:prstGeom>
        </p:spPr>
      </p:pic>
      <p:sp>
        <p:nvSpPr>
          <p:cNvPr id="14" name="TextBox 13"/>
          <p:cNvSpPr txBox="1"/>
          <p:nvPr/>
        </p:nvSpPr>
        <p:spPr>
          <a:xfrm>
            <a:off x="6537960" y="5961888"/>
            <a:ext cx="5029200" cy="164592"/>
          </a:xfrm>
          <a:prstGeom prst="rect">
            <a:avLst/>
          </a:prstGeom>
          <a:noFill/>
        </p:spPr>
        <p:txBody>
          <a:bodyPr wrap="square" lIns="0" rIns="0" tIns="0" bIns="0">
            <a:spAutoFit/>
          </a:bodyPr>
          <a:lstStyle/>
          <a:p>
            <a:pPr>
              <a:lnSpc>
                <a:spcPct val="112000"/>
              </a:lnSpc>
              <a:spcBef>
                <a:spcPts val="0"/>
              </a:spcBef>
              <a:spcAft>
                <a:spcPts val="400"/>
              </a:spcAft>
              <a:defRPr sz="900" b="1">
                <a:solidFill>
                  <a:srgbClr val="A5DFD0"/>
                </a:solidFill>
                <a:latin typeface="Arial"/>
              </a:defRPr>
            </a:pPr>
            <a:r>
              <a:t>ACTUAL REFERENCE WORKSPACE  /  PTEN · 1D5R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PROBLEM</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The next experiment starts with an evidence decision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02</a:t>
            </a:r>
          </a:p>
        </p:txBody>
      </p:sp>
      <p:sp>
        <p:nvSpPr>
          <p:cNvPr id="7" name="TextBox 6"/>
          <p:cNvSpPr txBox="1"/>
          <p:nvPr/>
        </p:nvSpPr>
        <p:spPr>
          <a:xfrm>
            <a:off x="594360" y="1920240"/>
            <a:ext cx="4754880" cy="2286000"/>
          </a:xfrm>
          <a:prstGeom prst="rect">
            <a:avLst/>
          </a:prstGeom>
          <a:noFill/>
        </p:spPr>
        <p:txBody>
          <a:bodyPr wrap="square" lIns="0" rIns="0" tIns="0" bIns="0">
            <a:spAutoFit/>
          </a:bodyPr>
          <a:lstStyle/>
          <a:p>
            <a:pPr>
              <a:lnSpc>
                <a:spcPct val="112000"/>
              </a:lnSpc>
              <a:spcBef>
                <a:spcPts val="0"/>
              </a:spcBef>
              <a:spcAft>
                <a:spcPts val="400"/>
              </a:spcAft>
              <a:defRPr sz="3100" b="1">
                <a:solidFill>
                  <a:srgbClr val="193B3B"/>
                </a:solidFill>
                <a:latin typeface="Arial"/>
              </a:defRPr>
            </a:pPr>
            <a:r>
              <a:t>One researcher.</a:t>
            </a:r>
          </a:p>
          <a:p>
            <a:pPr>
              <a:lnSpc>
                <a:spcPct val="112000"/>
              </a:lnSpc>
              <a:spcBef>
                <a:spcPts val="0"/>
              </a:spcBef>
              <a:spcAft>
                <a:spcPts val="400"/>
              </a:spcAft>
              <a:defRPr sz="3100" b="1">
                <a:solidFill>
                  <a:srgbClr val="193B3B"/>
                </a:solidFill>
                <a:latin typeface="Arial"/>
              </a:defRPr>
            </a:pPr>
            <a:r>
              <a:t>Competing explanations.</a:t>
            </a:r>
          </a:p>
          <a:p>
            <a:pPr>
              <a:lnSpc>
                <a:spcPct val="112000"/>
              </a:lnSpc>
              <a:spcBef>
                <a:spcPts val="0"/>
              </a:spcBef>
              <a:spcAft>
                <a:spcPts val="400"/>
              </a:spcAft>
              <a:defRPr sz="3100" b="1">
                <a:solidFill>
                  <a:srgbClr val="193B3B"/>
                </a:solidFill>
                <a:latin typeface="Arial"/>
              </a:defRPr>
            </a:pPr>
            <a:r>
              <a:t>Limited lab capacity.</a:t>
            </a:r>
          </a:p>
        </p:txBody>
      </p:sp>
      <p:sp>
        <p:nvSpPr>
          <p:cNvPr id="8" name="Rounded Rectangle 7"/>
          <p:cNvSpPr/>
          <p:nvPr/>
        </p:nvSpPr>
        <p:spPr>
          <a:xfrm>
            <a:off x="6400800" y="1920240"/>
            <a:ext cx="5184648" cy="8412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2048256"/>
            <a:ext cx="457200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MEASUREMENTS</a:t>
            </a:r>
          </a:p>
        </p:txBody>
      </p:sp>
      <p:sp>
        <p:nvSpPr>
          <p:cNvPr id="10" name="TextBox 9"/>
          <p:cNvSpPr txBox="1"/>
          <p:nvPr/>
        </p:nvSpPr>
        <p:spPr>
          <a:xfrm>
            <a:off x="6601968" y="2313432"/>
            <a:ext cx="470916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What did each assay measure?</a:t>
            </a:r>
          </a:p>
        </p:txBody>
      </p:sp>
      <p:sp>
        <p:nvSpPr>
          <p:cNvPr id="11" name="Rounded Rectangle 10"/>
          <p:cNvSpPr/>
          <p:nvPr/>
        </p:nvSpPr>
        <p:spPr>
          <a:xfrm>
            <a:off x="6400800" y="3017520"/>
            <a:ext cx="5184648" cy="8412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3145536"/>
            <a:ext cx="457200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STRUCTURE</a:t>
            </a:r>
          </a:p>
        </p:txBody>
      </p:sp>
      <p:sp>
        <p:nvSpPr>
          <p:cNvPr id="13" name="TextBox 12"/>
          <p:cNvSpPr txBox="1"/>
          <p:nvPr/>
        </p:nvSpPr>
        <p:spPr>
          <a:xfrm>
            <a:off x="6601968" y="3410712"/>
            <a:ext cx="470916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Can this position be mapped?</a:t>
            </a:r>
          </a:p>
        </p:txBody>
      </p:sp>
      <p:sp>
        <p:nvSpPr>
          <p:cNvPr id="14" name="Rounded Rectangle 13"/>
          <p:cNvSpPr/>
          <p:nvPr/>
        </p:nvSpPr>
        <p:spPr>
          <a:xfrm>
            <a:off x="6400800" y="4114800"/>
            <a:ext cx="5184648" cy="8412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4242816"/>
            <a:ext cx="457200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LITERATURE</a:t>
            </a:r>
          </a:p>
        </p:txBody>
      </p:sp>
      <p:sp>
        <p:nvSpPr>
          <p:cNvPr id="16" name="TextBox 15"/>
          <p:cNvSpPr txBox="1"/>
          <p:nvPr/>
        </p:nvSpPr>
        <p:spPr>
          <a:xfrm>
            <a:off x="6601968" y="4507992"/>
            <a:ext cx="470916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Does the cited passage apply?</a:t>
            </a:r>
          </a:p>
        </p:txBody>
      </p:sp>
      <p:sp>
        <p:nvSpPr>
          <p:cNvPr id="17" name="Rectangle 16"/>
          <p:cNvSpPr/>
          <p:nvPr/>
        </p:nvSpPr>
        <p:spPr>
          <a:xfrm>
            <a:off x="594360" y="5532120"/>
            <a:ext cx="10991088" cy="521207"/>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650992"/>
            <a:ext cx="10607040" cy="301752"/>
          </a:xfrm>
          <a:prstGeom prst="rect">
            <a:avLst/>
          </a:prstGeom>
          <a:noFill/>
        </p:spPr>
        <p:txBody>
          <a:bodyPr wrap="square" lIns="0" rIns="0" tIns="0" bIns="0">
            <a:spAutoFit/>
          </a:bodyPr>
          <a:lstStyle/>
          <a:p>
            <a:pPr>
              <a:lnSpc>
                <a:spcPct val="112000"/>
              </a:lnSpc>
              <a:spcBef>
                <a:spcPts val="0"/>
              </a:spcBef>
              <a:spcAft>
                <a:spcPts val="400"/>
              </a:spcAft>
              <a:defRPr sz="2000" b="0">
                <a:solidFill>
                  <a:srgbClr val="F2E9D7"/>
                </a:solidFill>
                <a:latin typeface="Arial"/>
              </a:defRPr>
            </a:pPr>
            <a:r>
              <a:t>The proposed job: assemble a research decision with evidence and explicit unknowns.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PRODUCT</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From a question to a brief you can check</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03</a:t>
            </a:r>
          </a:p>
        </p:txBody>
      </p:sp>
      <p:sp>
        <p:nvSpPr>
          <p:cNvPr id="7" name="Rounded Rectangle 6"/>
          <p:cNvSpPr/>
          <p:nvPr/>
        </p:nvSpPr>
        <p:spPr>
          <a:xfrm>
            <a:off x="594360" y="2011680"/>
            <a:ext cx="2606040" cy="242316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2240280"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01</a:t>
            </a:r>
          </a:p>
        </p:txBody>
      </p:sp>
      <p:sp>
        <p:nvSpPr>
          <p:cNvPr id="9" name="TextBox 8"/>
          <p:cNvSpPr txBox="1"/>
          <p:nvPr/>
        </p:nvSpPr>
        <p:spPr>
          <a:xfrm>
            <a:off x="777240" y="2852928"/>
            <a:ext cx="2240280"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Ask</a:t>
            </a:r>
          </a:p>
        </p:txBody>
      </p:sp>
      <p:sp>
        <p:nvSpPr>
          <p:cNvPr id="10" name="TextBox 9"/>
          <p:cNvSpPr txBox="1"/>
          <p:nvPr/>
        </p:nvSpPr>
        <p:spPr>
          <a:xfrm>
            <a:off x="777240" y="3447288"/>
            <a:ext cx="2240280" cy="8961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Declare the question</a:t>
            </a:r>
          </a:p>
          <a:p>
            <a:pPr>
              <a:lnSpc>
                <a:spcPct val="112000"/>
              </a:lnSpc>
              <a:spcBef>
                <a:spcPts val="0"/>
              </a:spcBef>
              <a:spcAft>
                <a:spcPts val="400"/>
              </a:spcAft>
              <a:defRPr sz="1800" b="0">
                <a:solidFill>
                  <a:srgbClr val="58706F"/>
                </a:solidFill>
                <a:latin typeface="Arial"/>
              </a:defRPr>
            </a:pPr>
            <a:r>
              <a:t>and selected records.</a:t>
            </a:r>
          </a:p>
        </p:txBody>
      </p:sp>
      <p:sp>
        <p:nvSpPr>
          <p:cNvPr id="11" name="TextBox 10"/>
          <p:cNvSpPr txBox="1"/>
          <p:nvPr/>
        </p:nvSpPr>
        <p:spPr>
          <a:xfrm>
            <a:off x="3227832" y="3108960"/>
            <a:ext cx="182880" cy="365760"/>
          </a:xfrm>
          <a:prstGeom prst="rect">
            <a:avLst/>
          </a:prstGeom>
          <a:noFill/>
        </p:spPr>
        <p:txBody>
          <a:bodyPr wrap="square" lIns="0" rIns="0" tIns="0" bIns="0">
            <a:spAutoFit/>
          </a:bodyPr>
          <a:lstStyle/>
          <a:p>
            <a:pPr>
              <a:lnSpc>
                <a:spcPct val="112000"/>
              </a:lnSpc>
              <a:spcBef>
                <a:spcPts val="0"/>
              </a:spcBef>
              <a:spcAft>
                <a:spcPts val="400"/>
              </a:spcAft>
              <a:defRPr sz="2000" b="1">
                <a:solidFill>
                  <a:srgbClr val="226B60"/>
                </a:solidFill>
                <a:latin typeface="Arial"/>
              </a:defRPr>
            </a:pPr>
            <a:r>
              <a:t>→</a:t>
            </a:r>
          </a:p>
        </p:txBody>
      </p:sp>
      <p:sp>
        <p:nvSpPr>
          <p:cNvPr id="12" name="Rounded Rectangle 11"/>
          <p:cNvSpPr/>
          <p:nvPr/>
        </p:nvSpPr>
        <p:spPr>
          <a:xfrm>
            <a:off x="3383279" y="2011680"/>
            <a:ext cx="2606040" cy="242316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194560"/>
            <a:ext cx="2240280"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02</a:t>
            </a:r>
          </a:p>
        </p:txBody>
      </p:sp>
      <p:sp>
        <p:nvSpPr>
          <p:cNvPr id="14" name="TextBox 13"/>
          <p:cNvSpPr txBox="1"/>
          <p:nvPr/>
        </p:nvSpPr>
        <p:spPr>
          <a:xfrm>
            <a:off x="3566160" y="2852928"/>
            <a:ext cx="2240280"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Inspect</a:t>
            </a:r>
          </a:p>
        </p:txBody>
      </p:sp>
      <p:sp>
        <p:nvSpPr>
          <p:cNvPr id="15" name="TextBox 14"/>
          <p:cNvSpPr txBox="1"/>
          <p:nvPr/>
        </p:nvSpPr>
        <p:spPr>
          <a:xfrm>
            <a:off x="3566160" y="3447288"/>
            <a:ext cx="2240280" cy="8961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Check identity, assay</a:t>
            </a:r>
          </a:p>
          <a:p>
            <a:pPr>
              <a:lnSpc>
                <a:spcPct val="112000"/>
              </a:lnSpc>
              <a:spcBef>
                <a:spcPts val="0"/>
              </a:spcBef>
              <a:spcAft>
                <a:spcPts val="400"/>
              </a:spcAft>
              <a:defRPr sz="1800" b="0">
                <a:solidFill>
                  <a:srgbClr val="58706F"/>
                </a:solidFill>
                <a:latin typeface="Arial"/>
              </a:defRPr>
            </a:pPr>
            <a:r>
              <a:t>meaning and coverage.</a:t>
            </a:r>
          </a:p>
        </p:txBody>
      </p:sp>
      <p:sp>
        <p:nvSpPr>
          <p:cNvPr id="16" name="TextBox 15"/>
          <p:cNvSpPr txBox="1"/>
          <p:nvPr/>
        </p:nvSpPr>
        <p:spPr>
          <a:xfrm>
            <a:off x="6016752" y="3108960"/>
            <a:ext cx="182880" cy="365760"/>
          </a:xfrm>
          <a:prstGeom prst="rect">
            <a:avLst/>
          </a:prstGeom>
          <a:noFill/>
        </p:spPr>
        <p:txBody>
          <a:bodyPr wrap="square" lIns="0" rIns="0" tIns="0" bIns="0">
            <a:spAutoFit/>
          </a:bodyPr>
          <a:lstStyle/>
          <a:p>
            <a:pPr>
              <a:lnSpc>
                <a:spcPct val="112000"/>
              </a:lnSpc>
              <a:spcBef>
                <a:spcPts val="0"/>
              </a:spcBef>
              <a:spcAft>
                <a:spcPts val="400"/>
              </a:spcAft>
              <a:defRPr sz="2000" b="1">
                <a:solidFill>
                  <a:srgbClr val="226B60"/>
                </a:solidFill>
                <a:latin typeface="Arial"/>
              </a:defRPr>
            </a:pPr>
            <a:r>
              <a:t>→</a:t>
            </a:r>
          </a:p>
        </p:txBody>
      </p:sp>
      <p:sp>
        <p:nvSpPr>
          <p:cNvPr id="17" name="Rounded Rectangle 16"/>
          <p:cNvSpPr/>
          <p:nvPr/>
        </p:nvSpPr>
        <p:spPr>
          <a:xfrm>
            <a:off x="6172200" y="2011680"/>
            <a:ext cx="2606040" cy="242316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194560"/>
            <a:ext cx="2240280"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03</a:t>
            </a:r>
          </a:p>
        </p:txBody>
      </p:sp>
      <p:sp>
        <p:nvSpPr>
          <p:cNvPr id="19" name="TextBox 18"/>
          <p:cNvSpPr txBox="1"/>
          <p:nvPr/>
        </p:nvSpPr>
        <p:spPr>
          <a:xfrm>
            <a:off x="6355080" y="2852928"/>
            <a:ext cx="2240280"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Investigate</a:t>
            </a:r>
          </a:p>
        </p:txBody>
      </p:sp>
      <p:sp>
        <p:nvSpPr>
          <p:cNvPr id="20" name="TextBox 19"/>
          <p:cNvSpPr txBox="1"/>
          <p:nvPr/>
        </p:nvSpPr>
        <p:spPr>
          <a:xfrm>
            <a:off x="6355080" y="3447288"/>
            <a:ext cx="2240280" cy="8961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Run applicable tools</a:t>
            </a:r>
          </a:p>
          <a:p>
            <a:pPr>
              <a:lnSpc>
                <a:spcPct val="112000"/>
              </a:lnSpc>
              <a:spcBef>
                <a:spcPts val="0"/>
              </a:spcBef>
              <a:spcAft>
                <a:spcPts val="400"/>
              </a:spcAft>
              <a:defRPr sz="1800" b="0">
                <a:solidFill>
                  <a:srgbClr val="58706F"/>
                </a:solidFill>
                <a:latin typeface="Arial"/>
              </a:defRPr>
            </a:pPr>
            <a:r>
              <a:t>and scoped reviews.</a:t>
            </a:r>
          </a:p>
        </p:txBody>
      </p:sp>
      <p:sp>
        <p:nvSpPr>
          <p:cNvPr id="21" name="TextBox 20"/>
          <p:cNvSpPr txBox="1"/>
          <p:nvPr/>
        </p:nvSpPr>
        <p:spPr>
          <a:xfrm>
            <a:off x="8805672" y="3108960"/>
            <a:ext cx="182880" cy="365760"/>
          </a:xfrm>
          <a:prstGeom prst="rect">
            <a:avLst/>
          </a:prstGeom>
          <a:noFill/>
        </p:spPr>
        <p:txBody>
          <a:bodyPr wrap="square" lIns="0" rIns="0" tIns="0" bIns="0">
            <a:spAutoFit/>
          </a:bodyPr>
          <a:lstStyle/>
          <a:p>
            <a:pPr>
              <a:lnSpc>
                <a:spcPct val="112000"/>
              </a:lnSpc>
              <a:spcBef>
                <a:spcPts val="0"/>
              </a:spcBef>
              <a:spcAft>
                <a:spcPts val="400"/>
              </a:spcAft>
              <a:defRPr sz="2000" b="1">
                <a:solidFill>
                  <a:srgbClr val="226B60"/>
                </a:solidFill>
                <a:latin typeface="Arial"/>
              </a:defRPr>
            </a:pPr>
            <a:r>
              <a:t>→</a:t>
            </a:r>
          </a:p>
        </p:txBody>
      </p:sp>
      <p:sp>
        <p:nvSpPr>
          <p:cNvPr id="22" name="Rounded Rectangle 21"/>
          <p:cNvSpPr/>
          <p:nvPr/>
        </p:nvSpPr>
        <p:spPr>
          <a:xfrm>
            <a:off x="8961119" y="2011680"/>
            <a:ext cx="2606040" cy="242316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3999" y="2194560"/>
            <a:ext cx="2240280"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04</a:t>
            </a:r>
          </a:p>
        </p:txBody>
      </p:sp>
      <p:sp>
        <p:nvSpPr>
          <p:cNvPr id="24" name="TextBox 23"/>
          <p:cNvSpPr txBox="1"/>
          <p:nvPr/>
        </p:nvSpPr>
        <p:spPr>
          <a:xfrm>
            <a:off x="9143999" y="2852928"/>
            <a:ext cx="2240280"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Review</a:t>
            </a:r>
          </a:p>
        </p:txBody>
      </p:sp>
      <p:sp>
        <p:nvSpPr>
          <p:cNvPr id="25" name="TextBox 24"/>
          <p:cNvSpPr txBox="1"/>
          <p:nvPr/>
        </p:nvSpPr>
        <p:spPr>
          <a:xfrm>
            <a:off x="9143999" y="3447288"/>
            <a:ext cx="2240280" cy="8961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Inspect evidence,</a:t>
            </a:r>
          </a:p>
          <a:p>
            <a:pPr>
              <a:lnSpc>
                <a:spcPct val="112000"/>
              </a:lnSpc>
              <a:spcBef>
                <a:spcPts val="0"/>
              </a:spcBef>
              <a:spcAft>
                <a:spcPts val="400"/>
              </a:spcAft>
              <a:defRPr sz="1800" b="0">
                <a:solidFill>
                  <a:srgbClr val="58706F"/>
                </a:solidFill>
                <a:latin typeface="Arial"/>
              </a:defRPr>
            </a:pPr>
            <a:r>
              <a:t>limits and follow-up.</a:t>
            </a:r>
          </a:p>
        </p:txBody>
      </p:sp>
      <p:sp>
        <p:nvSpPr>
          <p:cNvPr id="26" name="Rounded Rectangle 25"/>
          <p:cNvSpPr/>
          <p:nvPr/>
        </p:nvSpPr>
        <p:spPr>
          <a:xfrm>
            <a:off x="594360" y="4983480"/>
            <a:ext cx="10972800" cy="1005840"/>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166360"/>
            <a:ext cx="182880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A5DFD0"/>
                </a:solidFill>
                <a:latin typeface="Arial"/>
              </a:defRPr>
            </a:pPr>
            <a:r>
              <a:t>THE OUTPUT</a:t>
            </a:r>
          </a:p>
        </p:txBody>
      </p:sp>
      <p:sp>
        <p:nvSpPr>
          <p:cNvPr id="28" name="TextBox 27"/>
          <p:cNvSpPr txBox="1"/>
          <p:nvPr/>
        </p:nvSpPr>
        <p:spPr>
          <a:xfrm>
            <a:off x="822960" y="5513832"/>
            <a:ext cx="10424160" cy="365760"/>
          </a:xfrm>
          <a:prstGeom prst="rect">
            <a:avLst/>
          </a:prstGeom>
          <a:noFill/>
        </p:spPr>
        <p:txBody>
          <a:bodyPr wrap="square" lIns="0" rIns="0" tIns="0" bIns="0">
            <a:spAutoFit/>
          </a:bodyPr>
          <a:lstStyle/>
          <a:p>
            <a:pPr>
              <a:lnSpc>
                <a:spcPct val="112000"/>
              </a:lnSpc>
              <a:spcBef>
                <a:spcPts val="0"/>
              </a:spcBef>
              <a:spcAft>
                <a:spcPts val="400"/>
              </a:spcAft>
              <a:defRPr sz="2200" b="0">
                <a:solidFill>
                  <a:srgbClr val="F2E9D7"/>
                </a:solidFill>
                <a:latin typeface="Arial"/>
              </a:defRPr>
            </a:pPr>
            <a:r>
              <a:t>A checked research brief + reproducible artifacts + unresolved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PTEN DEMONSTRATION</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Three real substitutions. One bounded question.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04</a:t>
            </a:r>
          </a:p>
        </p:txBody>
      </p:sp>
      <p:sp>
        <p:nvSpPr>
          <p:cNvPr id="7" name="Rounded Rectangle 6"/>
          <p:cNvSpPr/>
          <p:nvPr/>
        </p:nvSpPr>
        <p:spPr>
          <a:xfrm>
            <a:off x="594360" y="1874519"/>
            <a:ext cx="350215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103120"/>
            <a:ext cx="3063240" cy="548640"/>
          </a:xfrm>
          <a:prstGeom prst="rect">
            <a:avLst/>
          </a:prstGeom>
          <a:noFill/>
        </p:spPr>
        <p:txBody>
          <a:bodyPr wrap="square" lIns="0" rIns="0" tIns="0" bIns="0">
            <a:spAutoFit/>
          </a:bodyPr>
          <a:lstStyle/>
          <a:p>
            <a:pPr>
              <a:lnSpc>
                <a:spcPct val="112000"/>
              </a:lnSpc>
              <a:spcBef>
                <a:spcPts val="0"/>
              </a:spcBef>
              <a:spcAft>
                <a:spcPts val="400"/>
              </a:spcAft>
              <a:defRPr sz="3600" b="1">
                <a:solidFill>
                  <a:srgbClr val="9E5837"/>
                </a:solidFill>
                <a:latin typeface="Arial"/>
              </a:defRPr>
            </a:pPr>
            <a:r>
              <a:t>C124S</a:t>
            </a:r>
          </a:p>
        </p:txBody>
      </p:sp>
      <p:sp>
        <p:nvSpPr>
          <p:cNvPr id="9" name="TextBox 8"/>
          <p:cNvSpPr txBox="1"/>
          <p:nvPr/>
        </p:nvSpPr>
        <p:spPr>
          <a:xfrm>
            <a:off x="813816" y="2816352"/>
            <a:ext cx="3090672"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193B3B"/>
                </a:solidFill>
                <a:latin typeface="Arial"/>
              </a:defRPr>
            </a:pPr>
            <a:r>
              <a:t>Paired measurements</a:t>
            </a:r>
          </a:p>
        </p:txBody>
      </p:sp>
      <p:sp>
        <p:nvSpPr>
          <p:cNvPr id="10" name="TextBox 9"/>
          <p:cNvSpPr txBox="1"/>
          <p:nvPr/>
        </p:nvSpPr>
        <p:spPr>
          <a:xfrm>
            <a:off x="813816" y="3337560"/>
            <a:ext cx="3017520" cy="6675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Activity and abundance</a:t>
            </a:r>
          </a:p>
          <a:p>
            <a:pPr>
              <a:lnSpc>
                <a:spcPct val="112000"/>
              </a:lnSpc>
              <a:spcBef>
                <a:spcPts val="0"/>
              </a:spcBef>
              <a:spcAft>
                <a:spcPts val="400"/>
              </a:spcAft>
              <a:defRPr sz="1800" b="0">
                <a:solidFill>
                  <a:srgbClr val="58706F"/>
                </a:solidFill>
                <a:latin typeface="Arial"/>
              </a:defRPr>
            </a:pPr>
            <a:r>
              <a:t>are both available.</a:t>
            </a:r>
          </a:p>
        </p:txBody>
      </p:sp>
      <p:sp>
        <p:nvSpPr>
          <p:cNvPr id="11" name="Rounded Rectangle 10"/>
          <p:cNvSpPr/>
          <p:nvPr/>
        </p:nvSpPr>
        <p:spPr>
          <a:xfrm>
            <a:off x="4325112" y="1874519"/>
            <a:ext cx="350215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103120"/>
            <a:ext cx="3063240" cy="548640"/>
          </a:xfrm>
          <a:prstGeom prst="rect">
            <a:avLst/>
          </a:prstGeom>
          <a:noFill/>
        </p:spPr>
        <p:txBody>
          <a:bodyPr wrap="square" lIns="0" rIns="0" tIns="0" bIns="0">
            <a:spAutoFit/>
          </a:bodyPr>
          <a:lstStyle/>
          <a:p>
            <a:pPr>
              <a:lnSpc>
                <a:spcPct val="112000"/>
              </a:lnSpc>
              <a:spcBef>
                <a:spcPts val="0"/>
              </a:spcBef>
              <a:spcAft>
                <a:spcPts val="400"/>
              </a:spcAft>
              <a:defRPr sz="3600" b="1">
                <a:solidFill>
                  <a:srgbClr val="9E5837"/>
                </a:solidFill>
                <a:latin typeface="Arial"/>
              </a:defRPr>
            </a:pPr>
            <a:r>
              <a:t>R172H</a:t>
            </a:r>
          </a:p>
        </p:txBody>
      </p:sp>
      <p:sp>
        <p:nvSpPr>
          <p:cNvPr id="13" name="TextBox 12"/>
          <p:cNvSpPr txBox="1"/>
          <p:nvPr/>
        </p:nvSpPr>
        <p:spPr>
          <a:xfrm>
            <a:off x="4544568" y="2816352"/>
            <a:ext cx="3090672"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193B3B"/>
                </a:solidFill>
                <a:latin typeface="Arial"/>
              </a:defRPr>
            </a:pPr>
            <a:r>
              <a:t>A missing observation</a:t>
            </a:r>
          </a:p>
        </p:txBody>
      </p:sp>
      <p:sp>
        <p:nvSpPr>
          <p:cNvPr id="14" name="TextBox 13"/>
          <p:cNvSpPr txBox="1"/>
          <p:nvPr/>
        </p:nvSpPr>
        <p:spPr>
          <a:xfrm>
            <a:off x="4544568" y="3337560"/>
            <a:ext cx="3017520" cy="6675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Activity is available;</a:t>
            </a:r>
          </a:p>
          <a:p>
            <a:pPr>
              <a:lnSpc>
                <a:spcPct val="112000"/>
              </a:lnSpc>
              <a:spcBef>
                <a:spcPts val="0"/>
              </a:spcBef>
              <a:spcAft>
                <a:spcPts val="400"/>
              </a:spcAft>
              <a:defRPr sz="1800" b="0">
                <a:solidFill>
                  <a:srgbClr val="58706F"/>
                </a:solidFill>
                <a:latin typeface="Arial"/>
              </a:defRPr>
            </a:pPr>
            <a:r>
              <a:t>abundance is missing.</a:t>
            </a:r>
          </a:p>
        </p:txBody>
      </p:sp>
      <p:sp>
        <p:nvSpPr>
          <p:cNvPr id="15" name="Rounded Rectangle 14"/>
          <p:cNvSpPr/>
          <p:nvPr/>
        </p:nvSpPr>
        <p:spPr>
          <a:xfrm>
            <a:off x="8055864" y="1874519"/>
            <a:ext cx="350215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103120"/>
            <a:ext cx="3063240" cy="548640"/>
          </a:xfrm>
          <a:prstGeom prst="rect">
            <a:avLst/>
          </a:prstGeom>
          <a:noFill/>
        </p:spPr>
        <p:txBody>
          <a:bodyPr wrap="square" lIns="0" rIns="0" tIns="0" bIns="0">
            <a:spAutoFit/>
          </a:bodyPr>
          <a:lstStyle/>
          <a:p>
            <a:pPr>
              <a:lnSpc>
                <a:spcPct val="112000"/>
              </a:lnSpc>
              <a:spcBef>
                <a:spcPts val="0"/>
              </a:spcBef>
              <a:spcAft>
                <a:spcPts val="400"/>
              </a:spcAft>
              <a:defRPr sz="3600" b="1">
                <a:solidFill>
                  <a:srgbClr val="9E5837"/>
                </a:solidFill>
                <a:latin typeface="Arial"/>
              </a:defRPr>
            </a:pPr>
            <a:r>
              <a:t>Y16T</a:t>
            </a:r>
          </a:p>
        </p:txBody>
      </p:sp>
      <p:sp>
        <p:nvSpPr>
          <p:cNvPr id="17" name="TextBox 16"/>
          <p:cNvSpPr txBox="1"/>
          <p:nvPr/>
        </p:nvSpPr>
        <p:spPr>
          <a:xfrm>
            <a:off x="8275320" y="2816352"/>
            <a:ext cx="3090672"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193B3B"/>
                </a:solidFill>
                <a:latin typeface="Arial"/>
              </a:defRPr>
            </a:pPr>
            <a:r>
              <a:t>A different profile</a:t>
            </a:r>
          </a:p>
        </p:txBody>
      </p:sp>
      <p:sp>
        <p:nvSpPr>
          <p:cNvPr id="18" name="TextBox 17"/>
          <p:cNvSpPr txBox="1"/>
          <p:nvPr/>
        </p:nvSpPr>
        <p:spPr>
          <a:xfrm>
            <a:off x="8275320" y="3337560"/>
            <a:ext cx="3017520" cy="6675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Paired measurements;</a:t>
            </a:r>
          </a:p>
          <a:p>
            <a:pPr>
              <a:lnSpc>
                <a:spcPct val="112000"/>
              </a:lnSpc>
              <a:spcBef>
                <a:spcPts val="0"/>
              </a:spcBef>
              <a:spcAft>
                <a:spcPts val="400"/>
              </a:spcAft>
              <a:defRPr sz="1800" b="0">
                <a:solidFill>
                  <a:srgbClr val="58706F"/>
                </a:solidFill>
                <a:latin typeface="Arial"/>
              </a:defRPr>
            </a:pPr>
            <a:r>
              <a:t>excluded by baseline rule.</a:t>
            </a:r>
          </a:p>
        </p:txBody>
      </p:sp>
      <p:pic>
        <p:nvPicPr>
          <p:cNvPr id="19" name="Picture 18" descr="demo-baseline-controls.png"/>
          <p:cNvPicPr>
            <a:picLocks noChangeAspect="1"/>
          </p:cNvPicPr>
          <p:nvPr/>
        </p:nvPicPr>
        <p:blipFill>
          <a:blip r:embed="rId3"/>
          <a:srcRect l="16900" t="65500" r="1900" b="400"/>
          <a:stretch>
            <a:fillRect/>
          </a:stretch>
        </p:blipFill>
        <p:spPr>
          <a:xfrm>
            <a:off x="594360" y="4517136"/>
            <a:ext cx="6492240" cy="1645920"/>
          </a:xfrm>
          <a:prstGeom prst="rect">
            <a:avLst/>
          </a:prstGeom>
        </p:spPr>
      </p:pic>
      <p:sp>
        <p:nvSpPr>
          <p:cNvPr id="20" name="TextBox 19"/>
          <p:cNvSpPr txBox="1"/>
          <p:nvPr/>
        </p:nvSpPr>
        <p:spPr>
          <a:xfrm>
            <a:off x="7452360" y="4663440"/>
            <a:ext cx="4114800" cy="1234440"/>
          </a:xfrm>
          <a:prstGeom prst="rect">
            <a:avLst/>
          </a:prstGeom>
          <a:noFill/>
        </p:spPr>
        <p:txBody>
          <a:bodyPr wrap="square" lIns="0" rIns="0" tIns="0" bIns="0">
            <a:spAutoFit/>
          </a:bodyPr>
          <a:lstStyle/>
          <a:p>
            <a:pPr>
              <a:lnSpc>
                <a:spcPct val="112000"/>
              </a:lnSpc>
              <a:spcBef>
                <a:spcPts val="0"/>
              </a:spcBef>
              <a:spcAft>
                <a:spcPts val="400"/>
              </a:spcAft>
              <a:defRPr sz="2400" b="1">
                <a:solidFill>
                  <a:srgbClr val="193B3B"/>
                </a:solidFill>
                <a:latin typeface="Arial"/>
              </a:defRPr>
            </a:pPr>
            <a:r>
              <a:t>Which profiles meet our rule?</a:t>
            </a:r>
          </a:p>
          <a:p>
            <a:pPr>
              <a:lnSpc>
                <a:spcPct val="112000"/>
              </a:lnSpc>
              <a:spcBef>
                <a:spcPts val="0"/>
              </a:spcBef>
              <a:spcAft>
                <a:spcPts val="400"/>
              </a:spcAft>
              <a:defRPr sz="2400" b="1">
                <a:solidFill>
                  <a:srgbClr val="193B3B"/>
                </a:solidFill>
                <a:latin typeface="Arial"/>
              </a:defRPr>
            </a:pPr>
            <a:r>
              <a:t>What remains unresolved?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MEASUREMENTS, WITH THEIR MEANING</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Two assays answer different questions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05</a:t>
            </a:r>
          </a:p>
        </p:txBody>
      </p:sp>
      <p:graphicFrame>
        <p:nvGraphicFramePr>
          <p:cNvPr id="7" name="Chart 6"/>
          <p:cNvGraphicFramePr>
            <a:graphicFrameLocks noGrp="1"/>
          </p:cNvGraphicFramePr>
          <p:nvPr/>
        </p:nvGraphicFramePr>
        <p:xfrm>
          <a:off x="594360" y="1874519"/>
          <a:ext cx="6400800" cy="3931920"/>
        </p:xfrm>
        <a:graphic>
          <a:graphicData uri="http://schemas.openxmlformats.org/drawingml/2006/chart">
            <c:chart xmlns:c="http://schemas.openxmlformats.org/drawingml/2006/chart" r:id="rId3"/>
          </a:graphicData>
        </a:graphic>
      </p:graphicFrame>
      <p:sp>
        <p:nvSpPr>
          <p:cNvPr id="8" name="Rectangle 7"/>
          <p:cNvSpPr/>
          <p:nvPr/>
        </p:nvSpPr>
        <p:spPr>
          <a:xfrm>
            <a:off x="7360920" y="2103120"/>
            <a:ext cx="4224528" cy="603504"/>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88936" y="2221991"/>
            <a:ext cx="1188720" cy="493776"/>
          </a:xfrm>
          <a:prstGeom prst="rect">
            <a:avLst/>
          </a:prstGeom>
          <a:noFill/>
        </p:spPr>
        <p:txBody>
          <a:bodyPr wrap="square" lIns="0" rIns="0" tIns="0" bIns="0">
            <a:spAutoFit/>
          </a:bodyPr>
          <a:lstStyle/>
          <a:p>
            <a:pPr>
              <a:lnSpc>
                <a:spcPct val="112000"/>
              </a:lnSpc>
              <a:spcBef>
                <a:spcPts val="0"/>
              </a:spcBef>
              <a:spcAft>
                <a:spcPts val="400"/>
              </a:spcAft>
              <a:defRPr sz="1600" b="1">
                <a:solidFill>
                  <a:srgbClr val="F2E9D7"/>
                </a:solidFill>
                <a:latin typeface="Arial"/>
              </a:defRPr>
            </a:pPr>
            <a:r>
              <a:t>Variant</a:t>
            </a:r>
          </a:p>
        </p:txBody>
      </p:sp>
      <p:sp>
        <p:nvSpPr>
          <p:cNvPr id="10" name="TextBox 9"/>
          <p:cNvSpPr txBox="1"/>
          <p:nvPr/>
        </p:nvSpPr>
        <p:spPr>
          <a:xfrm>
            <a:off x="8906256" y="2221991"/>
            <a:ext cx="1143000" cy="493776"/>
          </a:xfrm>
          <a:prstGeom prst="rect">
            <a:avLst/>
          </a:prstGeom>
          <a:noFill/>
        </p:spPr>
        <p:txBody>
          <a:bodyPr wrap="square" lIns="0" rIns="0" tIns="0" bIns="0">
            <a:spAutoFit/>
          </a:bodyPr>
          <a:lstStyle/>
          <a:p>
            <a:pPr>
              <a:lnSpc>
                <a:spcPct val="112000"/>
              </a:lnSpc>
              <a:spcBef>
                <a:spcPts val="0"/>
              </a:spcBef>
              <a:spcAft>
                <a:spcPts val="400"/>
              </a:spcAft>
              <a:defRPr sz="1600" b="1">
                <a:solidFill>
                  <a:srgbClr val="F2E9D7"/>
                </a:solidFill>
                <a:latin typeface="Arial"/>
              </a:defRPr>
            </a:pPr>
            <a:r>
              <a:t>Activity</a:t>
            </a:r>
          </a:p>
        </p:txBody>
      </p:sp>
      <p:sp>
        <p:nvSpPr>
          <p:cNvPr id="11" name="TextBox 10"/>
          <p:cNvSpPr txBox="1"/>
          <p:nvPr/>
        </p:nvSpPr>
        <p:spPr>
          <a:xfrm>
            <a:off x="10277856" y="2221991"/>
            <a:ext cx="1207008" cy="493776"/>
          </a:xfrm>
          <a:prstGeom prst="rect">
            <a:avLst/>
          </a:prstGeom>
          <a:noFill/>
        </p:spPr>
        <p:txBody>
          <a:bodyPr wrap="square" lIns="0" rIns="0" tIns="0" bIns="0">
            <a:spAutoFit/>
          </a:bodyPr>
          <a:lstStyle/>
          <a:p>
            <a:pPr>
              <a:lnSpc>
                <a:spcPct val="112000"/>
              </a:lnSpc>
              <a:spcBef>
                <a:spcPts val="0"/>
              </a:spcBef>
              <a:spcAft>
                <a:spcPts val="400"/>
              </a:spcAft>
              <a:defRPr sz="1600" b="1">
                <a:solidFill>
                  <a:srgbClr val="F2E9D7"/>
                </a:solidFill>
                <a:latin typeface="Arial"/>
              </a:defRPr>
            </a:pPr>
            <a:r>
              <a:t>Abundance</a:t>
            </a:r>
          </a:p>
        </p:txBody>
      </p:sp>
      <p:sp>
        <p:nvSpPr>
          <p:cNvPr id="12" name="Rectangle 11"/>
          <p:cNvSpPr/>
          <p:nvPr/>
        </p:nvSpPr>
        <p:spPr>
          <a:xfrm>
            <a:off x="7360920" y="2706624"/>
            <a:ext cx="4224528" cy="603504"/>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88936" y="2825496"/>
            <a:ext cx="118872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C124S</a:t>
            </a:r>
          </a:p>
        </p:txBody>
      </p:sp>
      <p:sp>
        <p:nvSpPr>
          <p:cNvPr id="14" name="TextBox 13"/>
          <p:cNvSpPr txBox="1"/>
          <p:nvPr/>
        </p:nvSpPr>
        <p:spPr>
          <a:xfrm>
            <a:off x="8906256" y="2825496"/>
            <a:ext cx="114300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-4.896</a:t>
            </a:r>
          </a:p>
        </p:txBody>
      </p:sp>
      <p:sp>
        <p:nvSpPr>
          <p:cNvPr id="15" name="TextBox 14"/>
          <p:cNvSpPr txBox="1"/>
          <p:nvPr/>
        </p:nvSpPr>
        <p:spPr>
          <a:xfrm>
            <a:off x="10277856" y="2825496"/>
            <a:ext cx="1207008"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1.047</a:t>
            </a:r>
          </a:p>
        </p:txBody>
      </p:sp>
      <p:sp>
        <p:nvSpPr>
          <p:cNvPr id="16" name="Rectangle 15"/>
          <p:cNvSpPr/>
          <p:nvPr/>
        </p:nvSpPr>
        <p:spPr>
          <a:xfrm>
            <a:off x="7360920" y="3310128"/>
            <a:ext cx="4224528" cy="603504"/>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8936" y="3429000"/>
            <a:ext cx="118872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R172H</a:t>
            </a:r>
          </a:p>
        </p:txBody>
      </p:sp>
      <p:sp>
        <p:nvSpPr>
          <p:cNvPr id="18" name="TextBox 17"/>
          <p:cNvSpPr txBox="1"/>
          <p:nvPr/>
        </p:nvSpPr>
        <p:spPr>
          <a:xfrm>
            <a:off x="8906256" y="3429000"/>
            <a:ext cx="114300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-0.090</a:t>
            </a:r>
          </a:p>
        </p:txBody>
      </p:sp>
      <p:sp>
        <p:nvSpPr>
          <p:cNvPr id="19" name="TextBox 18"/>
          <p:cNvSpPr txBox="1"/>
          <p:nvPr/>
        </p:nvSpPr>
        <p:spPr>
          <a:xfrm>
            <a:off x="10277856" y="3429000"/>
            <a:ext cx="1207008"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Missing</a:t>
            </a:r>
          </a:p>
        </p:txBody>
      </p:sp>
      <p:sp>
        <p:nvSpPr>
          <p:cNvPr id="20" name="Rectangle 19"/>
          <p:cNvSpPr/>
          <p:nvPr/>
        </p:nvSpPr>
        <p:spPr>
          <a:xfrm>
            <a:off x="7360920" y="3913631"/>
            <a:ext cx="4224528" cy="603504"/>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8936" y="4032503"/>
            <a:ext cx="118872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Y16T</a:t>
            </a:r>
          </a:p>
        </p:txBody>
      </p:sp>
      <p:sp>
        <p:nvSpPr>
          <p:cNvPr id="22" name="TextBox 21"/>
          <p:cNvSpPr txBox="1"/>
          <p:nvPr/>
        </p:nvSpPr>
        <p:spPr>
          <a:xfrm>
            <a:off x="8906256" y="4032503"/>
            <a:ext cx="114300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-0.282</a:t>
            </a:r>
          </a:p>
        </p:txBody>
      </p:sp>
      <p:sp>
        <p:nvSpPr>
          <p:cNvPr id="23" name="TextBox 22"/>
          <p:cNvSpPr txBox="1"/>
          <p:nvPr/>
        </p:nvSpPr>
        <p:spPr>
          <a:xfrm>
            <a:off x="10277856" y="4032503"/>
            <a:ext cx="1207008"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0.879</a:t>
            </a:r>
          </a:p>
        </p:txBody>
      </p:sp>
      <p:sp>
        <p:nvSpPr>
          <p:cNvPr id="24" name="TextBox 23"/>
          <p:cNvSpPr txBox="1"/>
          <p:nvPr/>
        </p:nvSpPr>
        <p:spPr>
          <a:xfrm>
            <a:off x="7360920" y="4873752"/>
            <a:ext cx="4206240" cy="100584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2 of 3 have both values.</a:t>
            </a:r>
          </a:p>
          <a:p>
            <a:pPr>
              <a:lnSpc>
                <a:spcPct val="112000"/>
              </a:lnSpc>
              <a:spcBef>
                <a:spcPts val="0"/>
              </a:spcBef>
              <a:spcAft>
                <a:spcPts val="400"/>
              </a:spcAft>
              <a:defRPr sz="2200" b="1">
                <a:solidFill>
                  <a:srgbClr val="193B3B"/>
                </a:solidFill>
                <a:latin typeface="Arial"/>
              </a:defRPr>
            </a:pPr>
            <a:r>
              <a:t>Missing stays unknown.</a:t>
            </a:r>
          </a:p>
        </p:txBody>
      </p:sp>
      <p:sp>
        <p:nvSpPr>
          <p:cNvPr id="25" name="TextBox 24"/>
          <p:cNvSpPr txBox="1"/>
          <p:nvPr/>
        </p:nvSpPr>
        <p:spPr>
          <a:xfrm>
            <a:off x="777240" y="6035040"/>
            <a:ext cx="10789920" cy="182880"/>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Public MaveDB measurements · pinned PTEN snapshot · no cross-assay normalization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REFERENCE STRUCTURE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mapped position gives context, not causation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06</a:t>
            </a:r>
          </a:p>
        </p:txBody>
      </p:sp>
      <p:pic>
        <p:nvPicPr>
          <p:cNvPr id="7" name="Picture 6" descr="demo-baseline-result.png"/>
          <p:cNvPicPr>
            <a:picLocks noChangeAspect="1"/>
          </p:cNvPicPr>
          <p:nvPr/>
        </p:nvPicPr>
        <p:blipFill>
          <a:blip r:embed="rId3"/>
          <a:srcRect l="1530" t="23000" r="52300" b="30100"/>
          <a:stretch>
            <a:fillRect/>
          </a:stretch>
        </p:blipFill>
        <p:spPr>
          <a:xfrm>
            <a:off x="594360" y="1847088"/>
            <a:ext cx="5577840" cy="4041648"/>
          </a:xfrm>
          <a:prstGeom prst="rect">
            <a:avLst/>
          </a:prstGeom>
        </p:spPr>
      </p:pic>
      <p:sp>
        <p:nvSpPr>
          <p:cNvPr id="8" name="TextBox 7"/>
          <p:cNvSpPr txBox="1"/>
          <p:nvPr/>
        </p:nvSpPr>
        <p:spPr>
          <a:xfrm>
            <a:off x="6675120" y="1956816"/>
            <a:ext cx="466344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P60484 → 1D5R</a:t>
            </a:r>
          </a:p>
        </p:txBody>
      </p:sp>
      <p:sp>
        <p:nvSpPr>
          <p:cNvPr id="9" name="TextBox 8"/>
          <p:cNvSpPr txBox="1"/>
          <p:nvPr/>
        </p:nvSpPr>
        <p:spPr>
          <a:xfrm>
            <a:off x="6675120" y="2880360"/>
            <a:ext cx="4754880" cy="301752"/>
          </a:xfrm>
          <a:prstGeom prst="rect">
            <a:avLst/>
          </a:prstGeom>
          <a:noFill/>
        </p:spPr>
        <p:txBody>
          <a:bodyPr wrap="square" lIns="0" rIns="0" tIns="0" bIns="0">
            <a:spAutoFit/>
          </a:bodyPr>
          <a:lstStyle/>
          <a:p>
            <a:pPr>
              <a:lnSpc>
                <a:spcPct val="112000"/>
              </a:lnSpc>
              <a:spcBef>
                <a:spcPts val="0"/>
              </a:spcBef>
              <a:spcAft>
                <a:spcPts val="400"/>
              </a:spcAft>
              <a:defRPr sz="2000" b="1">
                <a:solidFill>
                  <a:srgbClr val="226B60"/>
                </a:solidFill>
                <a:latin typeface="Arial"/>
              </a:defRPr>
            </a:pPr>
            <a:r>
              <a:t>Identity checked</a:t>
            </a:r>
          </a:p>
        </p:txBody>
      </p:sp>
      <p:sp>
        <p:nvSpPr>
          <p:cNvPr id="10" name="TextBox 9"/>
          <p:cNvSpPr txBox="1"/>
          <p:nvPr/>
        </p:nvSpPr>
        <p:spPr>
          <a:xfrm>
            <a:off x="6675120" y="3282696"/>
            <a:ext cx="4754880" cy="512064"/>
          </a:xfrm>
          <a:prstGeom prst="rect">
            <a:avLst/>
          </a:prstGeom>
          <a:noFill/>
        </p:spPr>
        <p:txBody>
          <a:bodyPr wrap="square" lIns="0" rIns="0" tIns="0" bIns="0">
            <a:spAutoFit/>
          </a:bodyPr>
          <a:lstStyle/>
          <a:p>
            <a:pPr>
              <a:lnSpc>
                <a:spcPct val="112000"/>
              </a:lnSpc>
              <a:spcBef>
                <a:spcPts val="0"/>
              </a:spcBef>
              <a:spcAft>
                <a:spcPts val="400"/>
              </a:spcAft>
              <a:defRPr sz="1900" b="0">
                <a:solidFill>
                  <a:srgbClr val="58706F"/>
                </a:solidFill>
                <a:latin typeface="Arial"/>
              </a:defRPr>
            </a:pPr>
            <a:r>
              <a:t>Accepted reference-to-chain mapping.</a:t>
            </a:r>
          </a:p>
        </p:txBody>
      </p:sp>
      <p:sp>
        <p:nvSpPr>
          <p:cNvPr id="11" name="TextBox 10"/>
          <p:cNvSpPr txBox="1"/>
          <p:nvPr/>
        </p:nvSpPr>
        <p:spPr>
          <a:xfrm>
            <a:off x="6675120" y="3886200"/>
            <a:ext cx="4754880" cy="301752"/>
          </a:xfrm>
          <a:prstGeom prst="rect">
            <a:avLst/>
          </a:prstGeom>
          <a:noFill/>
        </p:spPr>
        <p:txBody>
          <a:bodyPr wrap="square" lIns="0" rIns="0" tIns="0" bIns="0">
            <a:spAutoFit/>
          </a:bodyPr>
          <a:lstStyle/>
          <a:p>
            <a:pPr>
              <a:lnSpc>
                <a:spcPct val="112000"/>
              </a:lnSpc>
              <a:spcBef>
                <a:spcPts val="0"/>
              </a:spcBef>
              <a:spcAft>
                <a:spcPts val="400"/>
              </a:spcAft>
              <a:defRPr sz="2000" b="1">
                <a:solidFill>
                  <a:srgbClr val="226B60"/>
                </a:solidFill>
                <a:latin typeface="Arial"/>
              </a:defRPr>
            </a:pPr>
            <a:r>
              <a:t>Coordinates inspected</a:t>
            </a:r>
          </a:p>
        </p:txBody>
      </p:sp>
      <p:sp>
        <p:nvSpPr>
          <p:cNvPr id="12" name="TextBox 11"/>
          <p:cNvSpPr txBox="1"/>
          <p:nvPr/>
        </p:nvSpPr>
        <p:spPr>
          <a:xfrm>
            <a:off x="6675120" y="4288536"/>
            <a:ext cx="4754880" cy="512064"/>
          </a:xfrm>
          <a:prstGeom prst="rect">
            <a:avLst/>
          </a:prstGeom>
          <a:noFill/>
        </p:spPr>
        <p:txBody>
          <a:bodyPr wrap="square" lIns="0" rIns="0" tIns="0" bIns="0">
            <a:spAutoFit/>
          </a:bodyPr>
          <a:lstStyle/>
          <a:p>
            <a:pPr>
              <a:lnSpc>
                <a:spcPct val="112000"/>
              </a:lnSpc>
              <a:spcBef>
                <a:spcPts val="0"/>
              </a:spcBef>
              <a:spcAft>
                <a:spcPts val="400"/>
              </a:spcAft>
              <a:defRPr sz="1900" b="0">
                <a:solidFill>
                  <a:srgbClr val="58706F"/>
                </a:solidFill>
                <a:latin typeface="Arial"/>
              </a:defRPr>
            </a:pPr>
            <a:r>
              <a:t>All three selected positions are mapped.</a:t>
            </a:r>
          </a:p>
        </p:txBody>
      </p:sp>
      <p:sp>
        <p:nvSpPr>
          <p:cNvPr id="13" name="TextBox 12"/>
          <p:cNvSpPr txBox="1"/>
          <p:nvPr/>
        </p:nvSpPr>
        <p:spPr>
          <a:xfrm>
            <a:off x="6675120" y="4892040"/>
            <a:ext cx="4754880" cy="301752"/>
          </a:xfrm>
          <a:prstGeom prst="rect">
            <a:avLst/>
          </a:prstGeom>
          <a:noFill/>
        </p:spPr>
        <p:txBody>
          <a:bodyPr wrap="square" lIns="0" rIns="0" tIns="0" bIns="0">
            <a:spAutoFit/>
          </a:bodyPr>
          <a:lstStyle/>
          <a:p>
            <a:pPr>
              <a:lnSpc>
                <a:spcPct val="112000"/>
              </a:lnSpc>
              <a:spcBef>
                <a:spcPts val="0"/>
              </a:spcBef>
              <a:spcAft>
                <a:spcPts val="400"/>
              </a:spcAft>
              <a:defRPr sz="2000" b="1">
                <a:solidFill>
                  <a:srgbClr val="226B60"/>
                </a:solidFill>
                <a:latin typeface="Arial"/>
              </a:defRPr>
            </a:pPr>
            <a:r>
              <a:t>Boundary preserved</a:t>
            </a:r>
          </a:p>
        </p:txBody>
      </p:sp>
      <p:sp>
        <p:nvSpPr>
          <p:cNvPr id="14" name="TextBox 13"/>
          <p:cNvSpPr txBox="1"/>
          <p:nvPr/>
        </p:nvSpPr>
        <p:spPr>
          <a:xfrm>
            <a:off x="6675120" y="5294376"/>
            <a:ext cx="4754880" cy="512064"/>
          </a:xfrm>
          <a:prstGeom prst="rect">
            <a:avLst/>
          </a:prstGeom>
          <a:noFill/>
        </p:spPr>
        <p:txBody>
          <a:bodyPr wrap="square" lIns="0" rIns="0" tIns="0" bIns="0">
            <a:spAutoFit/>
          </a:bodyPr>
          <a:lstStyle/>
          <a:p>
            <a:pPr>
              <a:lnSpc>
                <a:spcPct val="112000"/>
              </a:lnSpc>
              <a:spcBef>
                <a:spcPts val="0"/>
              </a:spcBef>
              <a:spcAft>
                <a:spcPts val="400"/>
              </a:spcAft>
              <a:defRPr sz="1900" b="0">
                <a:solidFill>
                  <a:srgbClr val="58706F"/>
                </a:solidFill>
                <a:latin typeface="Arial"/>
              </a:defRPr>
            </a:pPr>
            <a:r>
              <a:t>The mutant structure was not computed.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A REPRODUCIBLE FOLLOW-UP</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Change one rule. See exactly what changes.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07</a:t>
            </a:r>
          </a:p>
        </p:txBody>
      </p:sp>
      <p:sp>
        <p:nvSpPr>
          <p:cNvPr id="7" name="Rounded Rectangle 6"/>
          <p:cNvSpPr/>
          <p:nvPr/>
        </p:nvSpPr>
        <p:spPr>
          <a:xfrm>
            <a:off x="594360" y="1874519"/>
            <a:ext cx="5193792" cy="22128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103120"/>
            <a:ext cx="466344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BASELINE</a:t>
            </a:r>
          </a:p>
        </p:txBody>
      </p:sp>
      <p:sp>
        <p:nvSpPr>
          <p:cNvPr id="9" name="TextBox 8"/>
          <p:cNvSpPr txBox="1"/>
          <p:nvPr/>
        </p:nvSpPr>
        <p:spPr>
          <a:xfrm>
            <a:off x="813816" y="2651760"/>
            <a:ext cx="4663440" cy="59436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C124S</a:t>
            </a:r>
          </a:p>
        </p:txBody>
      </p:sp>
      <p:sp>
        <p:nvSpPr>
          <p:cNvPr id="10" name="TextBox 9"/>
          <p:cNvSpPr txBox="1"/>
          <p:nvPr/>
        </p:nvSpPr>
        <p:spPr>
          <a:xfrm>
            <a:off x="813816" y="3502152"/>
            <a:ext cx="466344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Activity ceiling −1.11</a:t>
            </a:r>
          </a:p>
        </p:txBody>
      </p:sp>
      <p:sp>
        <p:nvSpPr>
          <p:cNvPr id="11" name="Rounded Rectangle 10"/>
          <p:cNvSpPr/>
          <p:nvPr/>
        </p:nvSpPr>
        <p:spPr>
          <a:xfrm>
            <a:off x="6400800" y="1874519"/>
            <a:ext cx="5193792" cy="22128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0256" y="2103120"/>
            <a:ext cx="466344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FOLLOW-UP</a:t>
            </a:r>
          </a:p>
        </p:txBody>
      </p:sp>
      <p:sp>
        <p:nvSpPr>
          <p:cNvPr id="13" name="TextBox 12"/>
          <p:cNvSpPr txBox="1"/>
          <p:nvPr/>
        </p:nvSpPr>
        <p:spPr>
          <a:xfrm>
            <a:off x="6620256" y="2651760"/>
            <a:ext cx="4663440" cy="59436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C124S + Y16T</a:t>
            </a:r>
          </a:p>
        </p:txBody>
      </p:sp>
      <p:sp>
        <p:nvSpPr>
          <p:cNvPr id="14" name="TextBox 13"/>
          <p:cNvSpPr txBox="1"/>
          <p:nvPr/>
        </p:nvSpPr>
        <p:spPr>
          <a:xfrm>
            <a:off x="6620256" y="3502152"/>
            <a:ext cx="466344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Activity ceiling 10</a:t>
            </a:r>
          </a:p>
        </p:txBody>
      </p:sp>
      <p:sp>
        <p:nvSpPr>
          <p:cNvPr id="15" name="TextBox 14"/>
          <p:cNvSpPr txBox="1"/>
          <p:nvPr/>
        </p:nvSpPr>
        <p:spPr>
          <a:xfrm>
            <a:off x="5925312" y="2697480"/>
            <a:ext cx="411480" cy="50292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a:t>
            </a:r>
          </a:p>
        </p:txBody>
      </p:sp>
      <p:sp>
        <p:nvSpPr>
          <p:cNvPr id="16" name="TextBox 15"/>
          <p:cNvSpPr txBox="1"/>
          <p:nvPr/>
        </p:nvSpPr>
        <p:spPr>
          <a:xfrm>
            <a:off x="594360" y="4526280"/>
            <a:ext cx="33832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ENTERED</a:t>
            </a:r>
          </a:p>
        </p:txBody>
      </p:sp>
      <p:sp>
        <p:nvSpPr>
          <p:cNvPr id="17" name="TextBox 16"/>
          <p:cNvSpPr txBox="1"/>
          <p:nvPr/>
        </p:nvSpPr>
        <p:spPr>
          <a:xfrm>
            <a:off x="594360" y="4965192"/>
            <a:ext cx="338328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Y16T</a:t>
            </a:r>
          </a:p>
        </p:txBody>
      </p:sp>
      <p:sp>
        <p:nvSpPr>
          <p:cNvPr id="18" name="TextBox 17"/>
          <p:cNvSpPr txBox="1"/>
          <p:nvPr/>
        </p:nvSpPr>
        <p:spPr>
          <a:xfrm>
            <a:off x="4325112" y="4526280"/>
            <a:ext cx="33832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LEFT</a:t>
            </a:r>
          </a:p>
        </p:txBody>
      </p:sp>
      <p:sp>
        <p:nvSpPr>
          <p:cNvPr id="19" name="TextBox 18"/>
          <p:cNvSpPr txBox="1"/>
          <p:nvPr/>
        </p:nvSpPr>
        <p:spPr>
          <a:xfrm>
            <a:off x="4325112" y="4965192"/>
            <a:ext cx="338328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None</a:t>
            </a:r>
          </a:p>
        </p:txBody>
      </p:sp>
      <p:sp>
        <p:nvSpPr>
          <p:cNvPr id="20" name="TextBox 19"/>
          <p:cNvSpPr txBox="1"/>
          <p:nvPr/>
        </p:nvSpPr>
        <p:spPr>
          <a:xfrm>
            <a:off x="8055864" y="4526280"/>
            <a:ext cx="33832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UNCHANGED</a:t>
            </a:r>
          </a:p>
        </p:txBody>
      </p:sp>
      <p:sp>
        <p:nvSpPr>
          <p:cNvPr id="21" name="TextBox 20"/>
          <p:cNvSpPr txBox="1"/>
          <p:nvPr/>
        </p:nvSpPr>
        <p:spPr>
          <a:xfrm>
            <a:off x="8055864" y="4965192"/>
            <a:ext cx="338328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C124S</a:t>
            </a:r>
          </a:p>
        </p:txBody>
      </p:sp>
      <p:sp>
        <p:nvSpPr>
          <p:cNvPr id="22" name="Rounded Rectangle 21"/>
          <p:cNvSpPr/>
          <p:nvPr/>
        </p:nvSpPr>
        <p:spPr>
          <a:xfrm>
            <a:off x="594360" y="5779008"/>
            <a:ext cx="6035040" cy="329184"/>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5838444"/>
            <a:ext cx="5815583"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EXPLORATORY CRITERION CHANGE · 0 MODEL REQUESTS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RECORDED AGENT INVESTIGATION</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Scoped reviews, inspectable handoffs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08</a:t>
            </a:r>
          </a:p>
        </p:txBody>
      </p:sp>
      <p:sp>
        <p:nvSpPr>
          <p:cNvPr id="7" name="Rounded Rectangle 6"/>
          <p:cNvSpPr/>
          <p:nvPr/>
        </p:nvSpPr>
        <p:spPr>
          <a:xfrm>
            <a:off x="594360" y="1828800"/>
            <a:ext cx="6766560" cy="36118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96312" y="2011680"/>
            <a:ext cx="2971800" cy="640080"/>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2121408"/>
            <a:ext cx="2752344" cy="283464"/>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Research lead</a:t>
            </a:r>
          </a:p>
        </p:txBody>
      </p:sp>
      <p:sp>
        <p:nvSpPr>
          <p:cNvPr id="10" name="TextBox 9"/>
          <p:cNvSpPr txBox="1"/>
          <p:nvPr/>
        </p:nvSpPr>
        <p:spPr>
          <a:xfrm>
            <a:off x="2606040" y="2459736"/>
            <a:ext cx="2752344" cy="219456"/>
          </a:xfrm>
          <a:prstGeom prst="rect">
            <a:avLst/>
          </a:prstGeom>
          <a:noFill/>
        </p:spPr>
        <p:txBody>
          <a:bodyPr wrap="square" lIns="0" rIns="0" tIns="0" bIns="0">
            <a:spAutoFit/>
          </a:bodyPr>
          <a:lstStyle/>
          <a:p>
            <a:pPr>
              <a:lnSpc>
                <a:spcPct val="112000"/>
              </a:lnSpc>
              <a:spcBef>
                <a:spcPts val="0"/>
              </a:spcBef>
              <a:spcAft>
                <a:spcPts val="400"/>
              </a:spcAft>
              <a:defRPr sz="1100" b="0">
                <a:solidFill>
                  <a:srgbClr val="A5DFD0"/>
                </a:solidFill>
                <a:latin typeface="Arial"/>
              </a:defRPr>
            </a:pPr>
            <a:r>
              <a:t>model orchestrator</a:t>
            </a:r>
          </a:p>
        </p:txBody>
      </p:sp>
      <p:sp>
        <p:nvSpPr>
          <p:cNvPr id="11" name="Rounded Rectangle 10"/>
          <p:cNvSpPr/>
          <p:nvPr/>
        </p:nvSpPr>
        <p:spPr>
          <a:xfrm>
            <a:off x="822960" y="3063240"/>
            <a:ext cx="1371600" cy="1051560"/>
          </a:xfrm>
          <a:prstGeom prst="roundRect">
            <a:avLst>
              <a:gd name="adj" fmla="val 6000"/>
            </a:avLst>
          </a:prstGeom>
          <a:solidFill>
            <a:srgbClr val="E7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172968"/>
            <a:ext cx="1152144" cy="283464"/>
          </a:xfrm>
          <a:prstGeom prst="rect">
            <a:avLst/>
          </a:prstGeom>
          <a:noFill/>
        </p:spPr>
        <p:txBody>
          <a:bodyPr wrap="square" lIns="0" rIns="0" tIns="0" bIns="0">
            <a:spAutoFit/>
          </a:bodyPr>
          <a:lstStyle/>
          <a:p>
            <a:pPr>
              <a:lnSpc>
                <a:spcPct val="112000"/>
              </a:lnSpc>
              <a:spcBef>
                <a:spcPts val="0"/>
              </a:spcBef>
              <a:spcAft>
                <a:spcPts val="400"/>
              </a:spcAft>
              <a:defRPr sz="1700" b="1">
                <a:solidFill>
                  <a:srgbClr val="193B3B"/>
                </a:solidFill>
                <a:latin typeface="Arial"/>
              </a:defRPr>
            </a:pPr>
            <a:r>
              <a:t>Identity</a:t>
            </a:r>
          </a:p>
        </p:txBody>
      </p:sp>
      <p:sp>
        <p:nvSpPr>
          <p:cNvPr id="13" name="TextBox 12"/>
          <p:cNvSpPr txBox="1"/>
          <p:nvPr/>
        </p:nvSpPr>
        <p:spPr>
          <a:xfrm>
            <a:off x="932688" y="3511296"/>
            <a:ext cx="1152144" cy="219456"/>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Python</a:t>
            </a:r>
          </a:p>
        </p:txBody>
      </p:sp>
      <p:sp>
        <p:nvSpPr>
          <p:cNvPr id="14" name="Rounded Rectangle 13"/>
          <p:cNvSpPr/>
          <p:nvPr/>
        </p:nvSpPr>
        <p:spPr>
          <a:xfrm>
            <a:off x="2560320" y="3063240"/>
            <a:ext cx="1965960" cy="1051560"/>
          </a:xfrm>
          <a:prstGeom prst="roundRect">
            <a:avLst>
              <a:gd name="adj" fmla="val 6000"/>
            </a:avLst>
          </a:prstGeom>
          <a:solidFill>
            <a:srgbClr val="E7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3172968"/>
            <a:ext cx="1746504" cy="283464"/>
          </a:xfrm>
          <a:prstGeom prst="rect">
            <a:avLst/>
          </a:prstGeom>
          <a:noFill/>
        </p:spPr>
        <p:txBody>
          <a:bodyPr wrap="square" lIns="0" rIns="0" tIns="0" bIns="0">
            <a:spAutoFit/>
          </a:bodyPr>
          <a:lstStyle/>
          <a:p>
            <a:pPr>
              <a:lnSpc>
                <a:spcPct val="112000"/>
              </a:lnSpc>
              <a:spcBef>
                <a:spcPts val="0"/>
              </a:spcBef>
              <a:spcAft>
                <a:spcPts val="400"/>
              </a:spcAft>
              <a:defRPr sz="1700" b="1">
                <a:solidFill>
                  <a:srgbClr val="193B3B"/>
                </a:solidFill>
                <a:latin typeface="Arial"/>
              </a:defRPr>
            </a:pPr>
            <a:r>
              <a:t>Assay</a:t>
            </a:r>
          </a:p>
        </p:txBody>
      </p:sp>
      <p:sp>
        <p:nvSpPr>
          <p:cNvPr id="16" name="TextBox 15"/>
          <p:cNvSpPr txBox="1"/>
          <p:nvPr/>
        </p:nvSpPr>
        <p:spPr>
          <a:xfrm>
            <a:off x="2670048" y="3511296"/>
            <a:ext cx="1746504" cy="219456"/>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model + tools</a:t>
            </a:r>
          </a:p>
        </p:txBody>
      </p:sp>
      <p:sp>
        <p:nvSpPr>
          <p:cNvPr id="17" name="Rounded Rectangle 16"/>
          <p:cNvSpPr/>
          <p:nvPr/>
        </p:nvSpPr>
        <p:spPr>
          <a:xfrm>
            <a:off x="4901184" y="3063240"/>
            <a:ext cx="2194560" cy="1051560"/>
          </a:xfrm>
          <a:prstGeom prst="roundRect">
            <a:avLst>
              <a:gd name="adj" fmla="val 6000"/>
            </a:avLst>
          </a:prstGeom>
          <a:solidFill>
            <a:srgbClr val="E7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10912" y="3172968"/>
            <a:ext cx="1975104" cy="283464"/>
          </a:xfrm>
          <a:prstGeom prst="rect">
            <a:avLst/>
          </a:prstGeom>
          <a:noFill/>
        </p:spPr>
        <p:txBody>
          <a:bodyPr wrap="square" lIns="0" rIns="0" tIns="0" bIns="0">
            <a:spAutoFit/>
          </a:bodyPr>
          <a:lstStyle/>
          <a:p>
            <a:pPr>
              <a:lnSpc>
                <a:spcPct val="112000"/>
              </a:lnSpc>
              <a:spcBef>
                <a:spcPts val="0"/>
              </a:spcBef>
              <a:spcAft>
                <a:spcPts val="400"/>
              </a:spcAft>
              <a:defRPr sz="1700" b="1">
                <a:solidFill>
                  <a:srgbClr val="193B3B"/>
                </a:solidFill>
                <a:latin typeface="Arial"/>
              </a:defRPr>
            </a:pPr>
            <a:r>
              <a:t>Structure</a:t>
            </a:r>
          </a:p>
        </p:txBody>
      </p:sp>
      <p:sp>
        <p:nvSpPr>
          <p:cNvPr id="19" name="TextBox 18"/>
          <p:cNvSpPr txBox="1"/>
          <p:nvPr/>
        </p:nvSpPr>
        <p:spPr>
          <a:xfrm>
            <a:off x="5010912" y="3511296"/>
            <a:ext cx="1975104" cy="219456"/>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model + tools</a:t>
            </a:r>
          </a:p>
        </p:txBody>
      </p:sp>
      <p:sp>
        <p:nvSpPr>
          <p:cNvPr id="20" name="Rounded Rectangle 19"/>
          <p:cNvSpPr/>
          <p:nvPr/>
        </p:nvSpPr>
        <p:spPr>
          <a:xfrm>
            <a:off x="2496312" y="4517136"/>
            <a:ext cx="2971800" cy="685800"/>
          </a:xfrm>
          <a:prstGeom prst="roundRect">
            <a:avLst>
              <a:gd name="adj" fmla="val 6000"/>
            </a:avLst>
          </a:prstGeom>
          <a:solidFill>
            <a:srgbClr val="E7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6040" y="4626864"/>
            <a:ext cx="2752344" cy="283464"/>
          </a:xfrm>
          <a:prstGeom prst="rect">
            <a:avLst/>
          </a:prstGeom>
          <a:noFill/>
        </p:spPr>
        <p:txBody>
          <a:bodyPr wrap="square" lIns="0" rIns="0" tIns="0" bIns="0">
            <a:spAutoFit/>
          </a:bodyPr>
          <a:lstStyle/>
          <a:p>
            <a:pPr>
              <a:lnSpc>
                <a:spcPct val="112000"/>
              </a:lnSpc>
              <a:spcBef>
                <a:spcPts val="0"/>
              </a:spcBef>
              <a:spcAft>
                <a:spcPts val="400"/>
              </a:spcAft>
              <a:defRPr sz="1700" b="1">
                <a:solidFill>
                  <a:srgbClr val="193B3B"/>
                </a:solidFill>
                <a:latin typeface="Arial"/>
              </a:defRPr>
            </a:pPr>
            <a:r>
              <a:t>Verifier</a:t>
            </a:r>
          </a:p>
        </p:txBody>
      </p:sp>
      <p:sp>
        <p:nvSpPr>
          <p:cNvPr id="22" name="TextBox 21"/>
          <p:cNvSpPr txBox="1"/>
          <p:nvPr/>
        </p:nvSpPr>
        <p:spPr>
          <a:xfrm>
            <a:off x="2606040" y="4965192"/>
            <a:ext cx="2752344" cy="219456"/>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mechanical checks</a:t>
            </a:r>
          </a:p>
        </p:txBody>
      </p:sp>
      <p:cxnSp>
        <p:nvCxnSpPr>
          <p:cNvPr id="23" name="Connector 22"/>
          <p:cNvCxnSpPr/>
          <p:nvPr/>
        </p:nvCxnSpPr>
        <p:spPr>
          <a:xfrm flipH="1">
            <a:off x="1508760" y="2651760"/>
            <a:ext cx="2468879" cy="402336"/>
          </a:xfrm>
          <a:prstGeom prst="line">
            <a:avLst/>
          </a:prstGeom>
          <a:ln w="1778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194560" y="3566160"/>
            <a:ext cx="365760" cy="0"/>
          </a:xfrm>
          <a:prstGeom prst="line">
            <a:avLst/>
          </a:prstGeom>
          <a:ln w="1778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94560" y="3749039"/>
            <a:ext cx="2706624" cy="0"/>
          </a:xfrm>
          <a:prstGeom prst="line">
            <a:avLst/>
          </a:prstGeom>
          <a:ln w="1778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38728" y="4114800"/>
            <a:ext cx="438911" cy="402336"/>
          </a:xfrm>
          <a:prstGeom prst="line">
            <a:avLst/>
          </a:prstGeom>
          <a:ln w="1778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029200" y="4114800"/>
            <a:ext cx="969264" cy="402336"/>
          </a:xfrm>
          <a:prstGeom prst="line">
            <a:avLst/>
          </a:prstGeom>
          <a:ln w="17780">
            <a:solidFill>
              <a:srgbClr val="226B6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909560" y="2011680"/>
            <a:ext cx="3108960" cy="658368"/>
          </a:xfrm>
          <a:prstGeom prst="rect">
            <a:avLst/>
          </a:prstGeom>
          <a:noFill/>
        </p:spPr>
        <p:txBody>
          <a:bodyPr wrap="square" lIns="0" rIns="0" tIns="0" bIns="0">
            <a:spAutoFit/>
          </a:bodyPr>
          <a:lstStyle/>
          <a:p>
            <a:pPr>
              <a:lnSpc>
                <a:spcPct val="112000"/>
              </a:lnSpc>
              <a:spcBef>
                <a:spcPts val="0"/>
              </a:spcBef>
              <a:spcAft>
                <a:spcPts val="400"/>
              </a:spcAft>
              <a:defRPr sz="4400" b="1">
                <a:solidFill>
                  <a:srgbClr val="193B3B"/>
                </a:solidFill>
                <a:latin typeface="Arial"/>
              </a:defRPr>
            </a:pPr>
            <a:r>
              <a:t>5</a:t>
            </a:r>
          </a:p>
        </p:txBody>
      </p:sp>
      <p:sp>
        <p:nvSpPr>
          <p:cNvPr id="29" name="TextBox 28"/>
          <p:cNvSpPr txBox="1"/>
          <p:nvPr/>
        </p:nvSpPr>
        <p:spPr>
          <a:xfrm>
            <a:off x="7909560" y="2761488"/>
            <a:ext cx="3383280" cy="320040"/>
          </a:xfrm>
          <a:prstGeom prst="rect">
            <a:avLst/>
          </a:prstGeom>
          <a:noFill/>
        </p:spPr>
        <p:txBody>
          <a:bodyPr wrap="square" lIns="0" rIns="0" tIns="0" bIns="0">
            <a:spAutoFit/>
          </a:bodyPr>
          <a:lstStyle/>
          <a:p>
            <a:pPr>
              <a:lnSpc>
                <a:spcPct val="112000"/>
              </a:lnSpc>
              <a:spcBef>
                <a:spcPts val="0"/>
              </a:spcBef>
              <a:spcAft>
                <a:spcPts val="400"/>
              </a:spcAft>
              <a:defRPr sz="2100" b="0">
                <a:solidFill>
                  <a:srgbClr val="58706F"/>
                </a:solidFill>
                <a:latin typeface="Arial"/>
              </a:defRPr>
            </a:pPr>
            <a:r>
              <a:t>model requests</a:t>
            </a:r>
          </a:p>
        </p:txBody>
      </p:sp>
      <p:sp>
        <p:nvSpPr>
          <p:cNvPr id="30" name="TextBox 29"/>
          <p:cNvSpPr txBox="1"/>
          <p:nvPr/>
        </p:nvSpPr>
        <p:spPr>
          <a:xfrm>
            <a:off x="7909560" y="3438144"/>
            <a:ext cx="3108960" cy="658368"/>
          </a:xfrm>
          <a:prstGeom prst="rect">
            <a:avLst/>
          </a:prstGeom>
          <a:noFill/>
        </p:spPr>
        <p:txBody>
          <a:bodyPr wrap="square" lIns="0" rIns="0" tIns="0" bIns="0">
            <a:spAutoFit/>
          </a:bodyPr>
          <a:lstStyle/>
          <a:p>
            <a:pPr>
              <a:lnSpc>
                <a:spcPct val="112000"/>
              </a:lnSpc>
              <a:spcBef>
                <a:spcPts val="0"/>
              </a:spcBef>
              <a:spcAft>
                <a:spcPts val="400"/>
              </a:spcAft>
              <a:defRPr sz="4400" b="1">
                <a:solidFill>
                  <a:srgbClr val="193B3B"/>
                </a:solidFill>
                <a:latin typeface="Arial"/>
              </a:defRPr>
            </a:pPr>
            <a:r>
              <a:t>10</a:t>
            </a:r>
          </a:p>
        </p:txBody>
      </p:sp>
      <p:sp>
        <p:nvSpPr>
          <p:cNvPr id="31" name="TextBox 30"/>
          <p:cNvSpPr txBox="1"/>
          <p:nvPr/>
        </p:nvSpPr>
        <p:spPr>
          <a:xfrm>
            <a:off x="7909560" y="4187952"/>
            <a:ext cx="3566160" cy="548640"/>
          </a:xfrm>
          <a:prstGeom prst="rect">
            <a:avLst/>
          </a:prstGeom>
          <a:noFill/>
        </p:spPr>
        <p:txBody>
          <a:bodyPr wrap="square" lIns="0" rIns="0" tIns="0" bIns="0">
            <a:spAutoFit/>
          </a:bodyPr>
          <a:lstStyle/>
          <a:p>
            <a:pPr>
              <a:lnSpc>
                <a:spcPct val="112000"/>
              </a:lnSpc>
              <a:spcBef>
                <a:spcPts val="0"/>
              </a:spcBef>
              <a:spcAft>
                <a:spcPts val="400"/>
              </a:spcAft>
              <a:defRPr sz="2100" b="0">
                <a:solidFill>
                  <a:srgbClr val="58706F"/>
                </a:solidFill>
                <a:latin typeface="Arial"/>
              </a:defRPr>
            </a:pPr>
            <a:r>
              <a:t>deterministic tool calls</a:t>
            </a:r>
          </a:p>
        </p:txBody>
      </p:sp>
      <p:pic>
        <p:nvPicPr>
          <p:cNvPr id="32" name="Picture 31" descr="agent-network.png"/>
          <p:cNvPicPr>
            <a:picLocks noChangeAspect="1"/>
          </p:cNvPicPr>
          <p:nvPr/>
        </p:nvPicPr>
        <p:blipFill>
          <a:blip r:embed="rId3"/>
          <a:srcRect t="74300" b="6000"/>
          <a:stretch>
            <a:fillRect/>
          </a:stretch>
        </p:blipFill>
        <p:spPr>
          <a:xfrm>
            <a:off x="594360" y="5596128"/>
            <a:ext cx="6766560" cy="512064"/>
          </a:xfrm>
          <a:prstGeom prst="rect">
            <a:avLst/>
          </a:prstGeom>
        </p:spPr>
      </p:pic>
      <p:sp>
        <p:nvSpPr>
          <p:cNvPr id="33" name="Rounded Rectangle 32"/>
          <p:cNvSpPr/>
          <p:nvPr/>
        </p:nvSpPr>
        <p:spPr>
          <a:xfrm>
            <a:off x="7909560" y="5120640"/>
            <a:ext cx="3675887" cy="329184"/>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19288" y="5180076"/>
            <a:ext cx="3456431"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RECORDED RUN · ARGON UNVERIFIED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RESEARCH OUTCOME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The useful result includes the unknowns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09</a:t>
            </a:r>
          </a:p>
        </p:txBody>
      </p:sp>
      <p:sp>
        <p:nvSpPr>
          <p:cNvPr id="7" name="Rounded Rectangle 6"/>
          <p:cNvSpPr/>
          <p:nvPr/>
        </p:nvSpPr>
        <p:spPr>
          <a:xfrm>
            <a:off x="594360" y="1920240"/>
            <a:ext cx="6766560" cy="3017520"/>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76272"/>
            <a:ext cx="621792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A5DFD0"/>
                </a:solidFill>
                <a:latin typeface="Arial"/>
              </a:defRPr>
            </a:pPr>
            <a:r>
              <a:t>SUPPORTED BY THE BASELINE</a:t>
            </a:r>
          </a:p>
        </p:txBody>
      </p:sp>
      <p:sp>
        <p:nvSpPr>
          <p:cNvPr id="9" name="TextBox 8"/>
          <p:cNvSpPr txBox="1"/>
          <p:nvPr/>
        </p:nvSpPr>
        <p:spPr>
          <a:xfrm>
            <a:off x="822960" y="2743200"/>
            <a:ext cx="6172200" cy="1143000"/>
          </a:xfrm>
          <a:prstGeom prst="rect">
            <a:avLst/>
          </a:prstGeom>
          <a:noFill/>
        </p:spPr>
        <p:txBody>
          <a:bodyPr wrap="square" lIns="0" rIns="0" tIns="0" bIns="0">
            <a:spAutoFit/>
          </a:bodyPr>
          <a:lstStyle/>
          <a:p>
            <a:pPr>
              <a:lnSpc>
                <a:spcPct val="112000"/>
              </a:lnSpc>
              <a:spcBef>
                <a:spcPts val="0"/>
              </a:spcBef>
              <a:spcAft>
                <a:spcPts val="400"/>
              </a:spcAft>
              <a:defRPr sz="3100" b="1">
                <a:solidFill>
                  <a:srgbClr val="F2E9D7"/>
                </a:solidFill>
                <a:latin typeface="Arial"/>
              </a:defRPr>
            </a:pPr>
            <a:r>
              <a:t>C124S meets the declared</a:t>
            </a:r>
          </a:p>
          <a:p>
            <a:pPr>
              <a:lnSpc>
                <a:spcPct val="112000"/>
              </a:lnSpc>
              <a:spcBef>
                <a:spcPts val="0"/>
              </a:spcBef>
              <a:spcAft>
                <a:spcPts val="400"/>
              </a:spcAft>
              <a:defRPr sz="3100" b="1">
                <a:solidFill>
                  <a:srgbClr val="F2E9D7"/>
                </a:solidFill>
                <a:latin typeface="Arial"/>
              </a:defRPr>
            </a:pPr>
            <a:r>
              <a:t>paired-measurement rule.</a:t>
            </a:r>
          </a:p>
        </p:txBody>
      </p:sp>
      <p:sp>
        <p:nvSpPr>
          <p:cNvPr id="10" name="TextBox 9"/>
          <p:cNvSpPr txBox="1"/>
          <p:nvPr/>
        </p:nvSpPr>
        <p:spPr>
          <a:xfrm>
            <a:off x="822960" y="4224528"/>
            <a:ext cx="6217920" cy="457200"/>
          </a:xfrm>
          <a:prstGeom prst="rect">
            <a:avLst/>
          </a:prstGeom>
          <a:noFill/>
        </p:spPr>
        <p:txBody>
          <a:bodyPr wrap="square" lIns="0" rIns="0" tIns="0" bIns="0">
            <a:spAutoFit/>
          </a:bodyPr>
          <a:lstStyle/>
          <a:p>
            <a:pPr>
              <a:lnSpc>
                <a:spcPct val="112000"/>
              </a:lnSpc>
              <a:spcBef>
                <a:spcPts val="0"/>
              </a:spcBef>
              <a:spcAft>
                <a:spcPts val="400"/>
              </a:spcAft>
              <a:defRPr sz="2000" b="0">
                <a:solidFill>
                  <a:srgbClr val="A5DFD0"/>
                </a:solidFill>
                <a:latin typeface="Arial"/>
              </a:defRPr>
            </a:pPr>
            <a:r>
              <a:t>A descriptive shortlist for scientific review.</a:t>
            </a:r>
          </a:p>
        </p:txBody>
      </p:sp>
      <p:sp>
        <p:nvSpPr>
          <p:cNvPr id="11" name="TextBox 10"/>
          <p:cNvSpPr txBox="1"/>
          <p:nvPr/>
        </p:nvSpPr>
        <p:spPr>
          <a:xfrm>
            <a:off x="7863840" y="2011680"/>
            <a:ext cx="3657600" cy="457200"/>
          </a:xfrm>
          <a:prstGeom prst="rect">
            <a:avLst/>
          </a:prstGeom>
          <a:noFill/>
        </p:spPr>
        <p:txBody>
          <a:bodyPr wrap="square" lIns="0" rIns="0" tIns="0" bIns="0">
            <a:spAutoFit/>
          </a:bodyPr>
          <a:lstStyle/>
          <a:p>
            <a:pPr>
              <a:lnSpc>
                <a:spcPct val="112000"/>
              </a:lnSpc>
              <a:spcBef>
                <a:spcPts val="0"/>
              </a:spcBef>
              <a:spcAft>
                <a:spcPts val="400"/>
              </a:spcAft>
              <a:defRPr sz="2600" b="1">
                <a:solidFill>
                  <a:srgbClr val="193B3B"/>
                </a:solidFill>
                <a:latin typeface="Arial"/>
              </a:defRPr>
            </a:pPr>
            <a:r>
              <a:t>Still unresolved</a:t>
            </a:r>
          </a:p>
        </p:txBody>
      </p:sp>
      <p:sp>
        <p:nvSpPr>
          <p:cNvPr id="12" name="TextBox 11"/>
          <p:cNvSpPr txBox="1"/>
          <p:nvPr/>
        </p:nvSpPr>
        <p:spPr>
          <a:xfrm>
            <a:off x="7863840" y="2743200"/>
            <a:ext cx="3703320" cy="1920240"/>
          </a:xfrm>
          <a:prstGeom prst="rect">
            <a:avLst/>
          </a:prstGeom>
          <a:noFill/>
        </p:spPr>
        <p:txBody>
          <a:bodyPr wrap="square" lIns="0" rIns="0" tIns="0" bIns="0">
            <a:spAutoFit/>
          </a:bodyPr>
          <a:lstStyle/>
          <a:p>
            <a:pPr>
              <a:lnSpc>
                <a:spcPct val="112000"/>
              </a:lnSpc>
              <a:spcBef>
                <a:spcPts val="0"/>
              </a:spcBef>
              <a:spcAft>
                <a:spcPts val="400"/>
              </a:spcAft>
              <a:defRPr sz="2100" b="0">
                <a:solidFill>
                  <a:srgbClr val="58706F"/>
                </a:solidFill>
                <a:latin typeface="Arial"/>
              </a:defRPr>
            </a:pPr>
            <a:r>
              <a:t>R172H: abundance is missing.</a:t>
            </a:r>
          </a:p>
          <a:p>
            <a:pPr>
              <a:lnSpc>
                <a:spcPct val="112000"/>
              </a:lnSpc>
              <a:spcBef>
                <a:spcPts val="0"/>
              </a:spcBef>
              <a:spcAft>
                <a:spcPts val="400"/>
              </a:spcAft>
              <a:defRPr sz="2100" b="0">
                <a:solidFill>
                  <a:srgbClr val="58706F"/>
                </a:solidFill>
                <a:latin typeface="Arial"/>
              </a:defRPr>
            </a:pPr>
          </a:p>
          <a:p>
            <a:pPr>
              <a:lnSpc>
                <a:spcPct val="112000"/>
              </a:lnSpc>
              <a:spcBef>
                <a:spcPts val="0"/>
              </a:spcBef>
              <a:spcAft>
                <a:spcPts val="400"/>
              </a:spcAft>
              <a:defRPr sz="2100" b="0">
                <a:solidFill>
                  <a:srgbClr val="58706F"/>
                </a:solidFill>
                <a:latin typeface="Arial"/>
              </a:defRPr>
            </a:pPr>
            <a:r>
              <a:t>Mechanism and disease relevance</a:t>
            </a:r>
          </a:p>
          <a:p>
            <a:pPr>
              <a:lnSpc>
                <a:spcPct val="112000"/>
              </a:lnSpc>
              <a:spcBef>
                <a:spcPts val="0"/>
              </a:spcBef>
              <a:spcAft>
                <a:spcPts val="400"/>
              </a:spcAft>
              <a:defRPr sz="2100" b="0">
                <a:solidFill>
                  <a:srgbClr val="58706F"/>
                </a:solidFill>
                <a:latin typeface="Arial"/>
              </a:defRPr>
            </a:pPr>
            <a:r>
              <a:t>are not established here.</a:t>
            </a:r>
          </a:p>
        </p:txBody>
      </p:sp>
      <p:cxnSp>
        <p:nvCxnSpPr>
          <p:cNvPr id="13" name="Connector 12"/>
          <p:cNvCxnSpPr/>
          <p:nvPr/>
        </p:nvCxnSpPr>
        <p:spPr>
          <a:xfrm>
            <a:off x="594360" y="5349240"/>
            <a:ext cx="10991088" cy="0"/>
          </a:xfrm>
          <a:prstGeom prst="line">
            <a:avLst/>
          </a:prstGeom>
          <a:ln w="15240">
            <a:solidFill>
              <a:srgbClr val="C8D4C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5577840"/>
            <a:ext cx="192024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NEXT QUESTION</a:t>
            </a:r>
          </a:p>
        </p:txBody>
      </p:sp>
      <p:sp>
        <p:nvSpPr>
          <p:cNvPr id="15" name="TextBox 14"/>
          <p:cNvSpPr txBox="1"/>
          <p:nvPr/>
        </p:nvSpPr>
        <p:spPr>
          <a:xfrm>
            <a:off x="2743200" y="5504688"/>
            <a:ext cx="8823960" cy="640080"/>
          </a:xfrm>
          <a:prstGeom prst="rect">
            <a:avLst/>
          </a:prstGeom>
          <a:noFill/>
        </p:spPr>
        <p:txBody>
          <a:bodyPr wrap="square" lIns="0" rIns="0" tIns="0" bIns="0">
            <a:spAutoFit/>
          </a:bodyPr>
          <a:lstStyle/>
          <a:p>
            <a:pPr>
              <a:lnSpc>
                <a:spcPct val="112000"/>
              </a:lnSpc>
              <a:spcBef>
                <a:spcPts val="0"/>
              </a:spcBef>
              <a:spcAft>
                <a:spcPts val="400"/>
              </a:spcAft>
              <a:defRPr sz="2300" b="1">
                <a:solidFill>
                  <a:srgbClr val="193B3B"/>
                </a:solidFill>
                <a:latin typeface="Arial"/>
              </a:defRPr>
            </a:pPr>
            <a:r>
              <a:t>What additional applicable evidence could distinguish the competing explanations?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SYSTEM ARCHITECTURE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Connected evidence, explicit storage boundaries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10</a:t>
            </a:r>
          </a:p>
        </p:txBody>
      </p:sp>
      <p:sp>
        <p:nvSpPr>
          <p:cNvPr id="7" name="Rounded Rectangle 6"/>
          <p:cNvSpPr/>
          <p:nvPr/>
        </p:nvSpPr>
        <p:spPr>
          <a:xfrm>
            <a:off x="594360" y="1874519"/>
            <a:ext cx="3063240" cy="15544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57400"/>
            <a:ext cx="2697480" cy="64008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Public sources</a:t>
            </a:r>
          </a:p>
        </p:txBody>
      </p:sp>
      <p:sp>
        <p:nvSpPr>
          <p:cNvPr id="9" name="TextBox 8"/>
          <p:cNvSpPr txBox="1"/>
          <p:nvPr/>
        </p:nvSpPr>
        <p:spPr>
          <a:xfrm>
            <a:off x="777240" y="2770632"/>
            <a:ext cx="2697480" cy="548640"/>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Measurements · papers · structures</a:t>
            </a:r>
          </a:p>
        </p:txBody>
      </p:sp>
      <p:sp>
        <p:nvSpPr>
          <p:cNvPr id="10" name="Rounded Rectangle 9"/>
          <p:cNvSpPr/>
          <p:nvPr/>
        </p:nvSpPr>
        <p:spPr>
          <a:xfrm>
            <a:off x="594360" y="4023360"/>
            <a:ext cx="3063240" cy="15544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206240"/>
            <a:ext cx="2697480" cy="64008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MongoDB Atlas corpus</a:t>
            </a:r>
          </a:p>
        </p:txBody>
      </p:sp>
      <p:sp>
        <p:nvSpPr>
          <p:cNvPr id="12" name="TextBox 11"/>
          <p:cNvSpPr txBox="1"/>
          <p:nvPr/>
        </p:nvSpPr>
        <p:spPr>
          <a:xfrm>
            <a:off x="777240" y="4919472"/>
            <a:ext cx="2697480" cy="548640"/>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Source versions · passages · assets</a:t>
            </a:r>
          </a:p>
        </p:txBody>
      </p:sp>
      <p:sp>
        <p:nvSpPr>
          <p:cNvPr id="13" name="Rounded Rectangle 12"/>
          <p:cNvSpPr/>
          <p:nvPr/>
        </p:nvSpPr>
        <p:spPr>
          <a:xfrm>
            <a:off x="4343400" y="1874519"/>
            <a:ext cx="3383280" cy="15544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57400"/>
            <a:ext cx="3017520" cy="64008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Validated Python tools</a:t>
            </a:r>
          </a:p>
        </p:txBody>
      </p:sp>
      <p:sp>
        <p:nvSpPr>
          <p:cNvPr id="15" name="TextBox 14"/>
          <p:cNvSpPr txBox="1"/>
          <p:nvPr/>
        </p:nvSpPr>
        <p:spPr>
          <a:xfrm>
            <a:off x="4526280" y="2770632"/>
            <a:ext cx="3017520" cy="548640"/>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Identity · filtering · mapping</a:t>
            </a:r>
          </a:p>
        </p:txBody>
      </p:sp>
      <p:sp>
        <p:nvSpPr>
          <p:cNvPr id="16" name="Rounded Rectangle 15"/>
          <p:cNvSpPr/>
          <p:nvPr/>
        </p:nvSpPr>
        <p:spPr>
          <a:xfrm>
            <a:off x="4343400" y="4023360"/>
            <a:ext cx="3383280" cy="15544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206240"/>
            <a:ext cx="3017520" cy="64008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Lead + scoped reviewers</a:t>
            </a:r>
          </a:p>
        </p:txBody>
      </p:sp>
      <p:sp>
        <p:nvSpPr>
          <p:cNvPr id="18" name="TextBox 17"/>
          <p:cNvSpPr txBox="1"/>
          <p:nvPr/>
        </p:nvSpPr>
        <p:spPr>
          <a:xfrm>
            <a:off x="4526280" y="4919472"/>
            <a:ext cx="3017520" cy="548640"/>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Model review + artifact verification</a:t>
            </a:r>
          </a:p>
        </p:txBody>
      </p:sp>
      <p:sp>
        <p:nvSpPr>
          <p:cNvPr id="19" name="Rounded Rectangle 18"/>
          <p:cNvSpPr/>
          <p:nvPr/>
        </p:nvSpPr>
        <p:spPr>
          <a:xfrm>
            <a:off x="8412480" y="1874519"/>
            <a:ext cx="3172968" cy="15544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59" y="2057400"/>
            <a:ext cx="2807208" cy="64008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Researcher review</a:t>
            </a:r>
          </a:p>
        </p:txBody>
      </p:sp>
      <p:sp>
        <p:nvSpPr>
          <p:cNvPr id="21" name="TextBox 20"/>
          <p:cNvSpPr txBox="1"/>
          <p:nvPr/>
        </p:nvSpPr>
        <p:spPr>
          <a:xfrm>
            <a:off x="8595359" y="2770632"/>
            <a:ext cx="2807208" cy="548640"/>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Inspect results · decide follow-up</a:t>
            </a:r>
          </a:p>
        </p:txBody>
      </p:sp>
      <p:sp>
        <p:nvSpPr>
          <p:cNvPr id="22" name="Rounded Rectangle 21"/>
          <p:cNvSpPr/>
          <p:nvPr/>
        </p:nvSpPr>
        <p:spPr>
          <a:xfrm>
            <a:off x="8412480" y="4023360"/>
            <a:ext cx="3172968" cy="155448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59" y="4206240"/>
            <a:ext cx="2807208" cy="64008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Local project state</a:t>
            </a:r>
          </a:p>
        </p:txBody>
      </p:sp>
      <p:sp>
        <p:nvSpPr>
          <p:cNvPr id="24" name="TextBox 23"/>
          <p:cNvSpPr txBox="1"/>
          <p:nvPr/>
        </p:nvSpPr>
        <p:spPr>
          <a:xfrm>
            <a:off x="8595359" y="4919472"/>
            <a:ext cx="2807208" cy="548640"/>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Investigations · events · results</a:t>
            </a:r>
          </a:p>
        </p:txBody>
      </p:sp>
      <p:cxnSp>
        <p:nvCxnSpPr>
          <p:cNvPr id="25" name="Connector 24"/>
          <p:cNvCxnSpPr/>
          <p:nvPr/>
        </p:nvCxnSpPr>
        <p:spPr>
          <a:xfrm>
            <a:off x="2121408" y="3429000"/>
            <a:ext cx="0" cy="59436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657600" y="2651760"/>
            <a:ext cx="685800" cy="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657600" y="4800600"/>
            <a:ext cx="685800" cy="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5040" y="3429000"/>
            <a:ext cx="0" cy="59436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26679" y="2651760"/>
            <a:ext cx="685801" cy="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726679" y="4800600"/>
            <a:ext cx="685801" cy="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003536" y="3429000"/>
            <a:ext cx="0" cy="594360"/>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4360" y="5806440"/>
            <a:ext cx="10972800" cy="338328"/>
          </a:xfrm>
          <a:prstGeom prst="rect">
            <a:avLst/>
          </a:prstGeom>
          <a:noFill/>
        </p:spPr>
        <p:txBody>
          <a:bodyPr wrap="square" lIns="0" rIns="0" tIns="0" bIns="0">
            <a:spAutoFit/>
          </a:bodyPr>
          <a:lstStyle/>
          <a:p>
            <a:pPr>
              <a:lnSpc>
                <a:spcPct val="112000"/>
              </a:lnSpc>
              <a:spcBef>
                <a:spcPts val="0"/>
              </a:spcBef>
              <a:spcAft>
                <a:spcPts val="400"/>
              </a:spcAft>
              <a:defRPr sz="2000" b="0">
                <a:solidFill>
                  <a:srgbClr val="226B60"/>
                </a:solidFill>
                <a:latin typeface="Arial"/>
              </a:defRPr>
            </a:pPr>
            <a:r>
              <a:t>Contextual assistant: source-linked guidance alongside the investigation.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DEMONSTRATED SCOPE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prototype with evidence you can inspect</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11</a:t>
            </a:r>
          </a:p>
        </p:txBody>
      </p:sp>
      <p:sp>
        <p:nvSpPr>
          <p:cNvPr id="7" name="Rectangle 6"/>
          <p:cNvSpPr/>
          <p:nvPr/>
        </p:nvSpPr>
        <p:spPr>
          <a:xfrm>
            <a:off x="594360" y="1901952"/>
            <a:ext cx="10991088" cy="548640"/>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020824"/>
            <a:ext cx="2651760" cy="438912"/>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Capability</a:t>
            </a:r>
          </a:p>
        </p:txBody>
      </p:sp>
      <p:sp>
        <p:nvSpPr>
          <p:cNvPr id="9" name="TextBox 8"/>
          <p:cNvSpPr txBox="1"/>
          <p:nvPr/>
        </p:nvSpPr>
        <p:spPr>
          <a:xfrm>
            <a:off x="3602736" y="2020824"/>
            <a:ext cx="4663440" cy="438912"/>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Evidence in hand</a:t>
            </a:r>
          </a:p>
        </p:txBody>
      </p:sp>
      <p:sp>
        <p:nvSpPr>
          <p:cNvPr id="10" name="TextBox 9"/>
          <p:cNvSpPr txBox="1"/>
          <p:nvPr/>
        </p:nvSpPr>
        <p:spPr>
          <a:xfrm>
            <a:off x="8494776" y="2020824"/>
            <a:ext cx="2990088" cy="438912"/>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Status</a:t>
            </a:r>
          </a:p>
        </p:txBody>
      </p:sp>
      <p:sp>
        <p:nvSpPr>
          <p:cNvPr id="11" name="Rectangle 10"/>
          <p:cNvSpPr/>
          <p:nvPr/>
        </p:nvSpPr>
        <p:spPr>
          <a:xfrm>
            <a:off x="594360" y="2450592"/>
            <a:ext cx="10991088" cy="54864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256946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PTEN analysis</a:t>
            </a:r>
          </a:p>
        </p:txBody>
      </p:sp>
      <p:sp>
        <p:nvSpPr>
          <p:cNvPr id="13" name="TextBox 12"/>
          <p:cNvSpPr txBox="1"/>
          <p:nvPr/>
        </p:nvSpPr>
        <p:spPr>
          <a:xfrm>
            <a:off x="3602736" y="256946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Pinned baseline + one-factor follow-up</a:t>
            </a:r>
          </a:p>
        </p:txBody>
      </p:sp>
      <p:sp>
        <p:nvSpPr>
          <p:cNvPr id="14" name="TextBox 13"/>
          <p:cNvSpPr txBox="1"/>
          <p:nvPr/>
        </p:nvSpPr>
        <p:spPr>
          <a:xfrm>
            <a:off x="8494776" y="256946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Demonstrated</a:t>
            </a:r>
          </a:p>
        </p:txBody>
      </p:sp>
      <p:sp>
        <p:nvSpPr>
          <p:cNvPr id="15" name="Rectangle 14"/>
          <p:cNvSpPr/>
          <p:nvPr/>
        </p:nvSpPr>
        <p:spPr>
          <a:xfrm>
            <a:off x="594360" y="2999232"/>
            <a:ext cx="10991088" cy="54864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311810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Independent reviews</a:t>
            </a:r>
          </a:p>
        </p:txBody>
      </p:sp>
      <p:sp>
        <p:nvSpPr>
          <p:cNvPr id="17" name="TextBox 16"/>
          <p:cNvSpPr txBox="1"/>
          <p:nvPr/>
        </p:nvSpPr>
        <p:spPr>
          <a:xfrm>
            <a:off x="3602736" y="311810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Saved model-backed team run</a:t>
            </a:r>
          </a:p>
        </p:txBody>
      </p:sp>
      <p:sp>
        <p:nvSpPr>
          <p:cNvPr id="18" name="TextBox 17"/>
          <p:cNvSpPr txBox="1"/>
          <p:nvPr/>
        </p:nvSpPr>
        <p:spPr>
          <a:xfrm>
            <a:off x="8494776" y="311810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Recorded; with limits</a:t>
            </a:r>
          </a:p>
        </p:txBody>
      </p:sp>
      <p:sp>
        <p:nvSpPr>
          <p:cNvPr id="19" name="Rectangle 18"/>
          <p:cNvSpPr/>
          <p:nvPr/>
        </p:nvSpPr>
        <p:spPr>
          <a:xfrm>
            <a:off x="594360" y="3547872"/>
            <a:ext cx="10991088" cy="54864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366674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Public corpus</a:t>
            </a:r>
          </a:p>
        </p:txBody>
      </p:sp>
      <p:sp>
        <p:nvSpPr>
          <p:cNvPr id="21" name="TextBox 20"/>
          <p:cNvSpPr txBox="1"/>
          <p:nvPr/>
        </p:nvSpPr>
        <p:spPr>
          <a:xfrm>
            <a:off x="3602736" y="366674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Atlas connection + stored records</a:t>
            </a:r>
          </a:p>
        </p:txBody>
      </p:sp>
      <p:sp>
        <p:nvSpPr>
          <p:cNvPr id="22" name="TextBox 21"/>
          <p:cNvSpPr txBox="1"/>
          <p:nvPr/>
        </p:nvSpPr>
        <p:spPr>
          <a:xfrm>
            <a:off x="8494776" y="366674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Snapshot verified</a:t>
            </a:r>
          </a:p>
        </p:txBody>
      </p:sp>
      <p:sp>
        <p:nvSpPr>
          <p:cNvPr id="23" name="Rectangle 22"/>
          <p:cNvSpPr/>
          <p:nvPr/>
        </p:nvSpPr>
        <p:spPr>
          <a:xfrm>
            <a:off x="594360" y="4096512"/>
            <a:ext cx="10991088" cy="54864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21538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Argon scientific run</a:t>
            </a:r>
          </a:p>
        </p:txBody>
      </p:sp>
      <p:sp>
        <p:nvSpPr>
          <p:cNvPr id="25" name="TextBox 24"/>
          <p:cNvSpPr txBox="1"/>
          <p:nvPr/>
        </p:nvSpPr>
        <p:spPr>
          <a:xfrm>
            <a:off x="3602736" y="421538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Connectivity attempt timed out</a:t>
            </a:r>
          </a:p>
        </p:txBody>
      </p:sp>
      <p:sp>
        <p:nvSpPr>
          <p:cNvPr id="26" name="TextBox 25"/>
          <p:cNvSpPr txBox="1"/>
          <p:nvPr/>
        </p:nvSpPr>
        <p:spPr>
          <a:xfrm>
            <a:off x="8494776" y="421538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Unverified</a:t>
            </a:r>
          </a:p>
        </p:txBody>
      </p:sp>
      <p:sp>
        <p:nvSpPr>
          <p:cNvPr id="27" name="Rectangle 26"/>
          <p:cNvSpPr/>
          <p:nvPr/>
        </p:nvSpPr>
        <p:spPr>
          <a:xfrm>
            <a:off x="594360" y="4645152"/>
            <a:ext cx="10991088" cy="54864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476402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Clinical or causal validity</a:t>
            </a:r>
          </a:p>
        </p:txBody>
      </p:sp>
      <p:sp>
        <p:nvSpPr>
          <p:cNvPr id="29" name="TextBox 28"/>
          <p:cNvSpPr txBox="1"/>
          <p:nvPr/>
        </p:nvSpPr>
        <p:spPr>
          <a:xfrm>
            <a:off x="3602736" y="476402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No qualifying validation in this case</a:t>
            </a:r>
          </a:p>
        </p:txBody>
      </p:sp>
      <p:sp>
        <p:nvSpPr>
          <p:cNvPr id="30" name="TextBox 29"/>
          <p:cNvSpPr txBox="1"/>
          <p:nvPr/>
        </p:nvSpPr>
        <p:spPr>
          <a:xfrm>
            <a:off x="8494776" y="476402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Not established</a:t>
            </a:r>
          </a:p>
        </p:txBody>
      </p:sp>
      <p:sp>
        <p:nvSpPr>
          <p:cNvPr id="31" name="TextBox 30"/>
          <p:cNvSpPr txBox="1"/>
          <p:nvPr/>
        </p:nvSpPr>
        <p:spPr>
          <a:xfrm>
            <a:off x="594360" y="5577840"/>
            <a:ext cx="6858000" cy="502920"/>
          </a:xfrm>
          <a:prstGeom prst="rect">
            <a:avLst/>
          </a:prstGeom>
          <a:noFill/>
        </p:spPr>
        <p:txBody>
          <a:bodyPr wrap="square" lIns="0" rIns="0" tIns="0" bIns="0">
            <a:spAutoFit/>
          </a:bodyPr>
          <a:lstStyle/>
          <a:p>
            <a:pPr>
              <a:lnSpc>
                <a:spcPct val="112000"/>
              </a:lnSpc>
              <a:spcBef>
                <a:spcPts val="0"/>
              </a:spcBef>
              <a:spcAft>
                <a:spcPts val="400"/>
              </a:spcAft>
              <a:defRPr sz="2800" b="1">
                <a:solidFill>
                  <a:srgbClr val="193B3B"/>
                </a:solidFill>
                <a:latin typeface="Arial"/>
              </a:defRPr>
            </a:pPr>
            <a:r>
              <a:t>480 studies  /  4,784 passages</a:t>
            </a:r>
          </a:p>
        </p:txBody>
      </p:sp>
      <p:sp>
        <p:nvSpPr>
          <p:cNvPr id="32" name="TextBox 31"/>
          <p:cNvSpPr txBox="1"/>
          <p:nvPr/>
        </p:nvSpPr>
        <p:spPr>
          <a:xfrm>
            <a:off x="7315200" y="5650992"/>
            <a:ext cx="4297680" cy="594360"/>
          </a:xfrm>
          <a:prstGeom prst="rect">
            <a:avLst/>
          </a:prstGeom>
          <a:noFill/>
        </p:spPr>
        <p:txBody>
          <a:bodyPr wrap="square" lIns="0" rIns="0" tIns="0" bIns="0">
            <a:spAutoFit/>
          </a:bodyPr>
          <a:lstStyle/>
          <a:p>
            <a:pPr>
              <a:lnSpc>
                <a:spcPct val="112000"/>
              </a:lnSpc>
              <a:spcBef>
                <a:spcPts val="0"/>
              </a:spcBef>
              <a:spcAft>
                <a:spcPts val="400"/>
              </a:spcAft>
              <a:defRPr sz="1400" b="0">
                <a:solidFill>
                  <a:srgbClr val="58706F"/>
                </a:solidFill>
                <a:latin typeface="Arial"/>
              </a:defRPr>
            </a:pPr>
            <a:r>
              <a:t>Recorded Atlas snapshot · 25 Oct 2026, 05:47 UTC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INITIAL CUSTOMER</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Start with teams making variant research decisions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12</a:t>
            </a:r>
          </a:p>
        </p:txBody>
      </p:sp>
      <p:sp>
        <p:nvSpPr>
          <p:cNvPr id="7" name="Rounded Rectangle 6"/>
          <p:cNvSpPr/>
          <p:nvPr/>
        </p:nvSpPr>
        <p:spPr>
          <a:xfrm>
            <a:off x="594360" y="1965960"/>
            <a:ext cx="528523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4919472"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01</a:t>
            </a:r>
          </a:p>
        </p:txBody>
      </p:sp>
      <p:sp>
        <p:nvSpPr>
          <p:cNvPr id="9" name="TextBox 8"/>
          <p:cNvSpPr txBox="1"/>
          <p:nvPr/>
        </p:nvSpPr>
        <p:spPr>
          <a:xfrm>
            <a:off x="777240" y="2807208"/>
            <a:ext cx="491947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Academic genomics labs</a:t>
            </a:r>
          </a:p>
        </p:txBody>
      </p:sp>
      <p:sp>
        <p:nvSpPr>
          <p:cNvPr id="10" name="TextBox 9"/>
          <p:cNvSpPr txBox="1"/>
          <p:nvPr/>
        </p:nvSpPr>
        <p:spPr>
          <a:xfrm>
            <a:off x="777240" y="3401568"/>
            <a:ext cx="4919472" cy="804671"/>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Review variant evidence before</a:t>
            </a:r>
          </a:p>
          <a:p>
            <a:pPr>
              <a:lnSpc>
                <a:spcPct val="112000"/>
              </a:lnSpc>
              <a:spcBef>
                <a:spcPts val="0"/>
              </a:spcBef>
              <a:spcAft>
                <a:spcPts val="400"/>
              </a:spcAft>
              <a:defRPr sz="1800" b="0">
                <a:solidFill>
                  <a:srgbClr val="58706F"/>
                </a:solidFill>
                <a:latin typeface="Arial"/>
              </a:defRPr>
            </a:pPr>
            <a:r>
              <a:t>choosing a follow-up experiment.</a:t>
            </a:r>
          </a:p>
        </p:txBody>
      </p:sp>
      <p:sp>
        <p:nvSpPr>
          <p:cNvPr id="11" name="Rounded Rectangle 10"/>
          <p:cNvSpPr/>
          <p:nvPr/>
        </p:nvSpPr>
        <p:spPr>
          <a:xfrm>
            <a:off x="6291072" y="1965960"/>
            <a:ext cx="5294376"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48840"/>
            <a:ext cx="4928616"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02</a:t>
            </a:r>
          </a:p>
        </p:txBody>
      </p:sp>
      <p:sp>
        <p:nvSpPr>
          <p:cNvPr id="13" name="TextBox 12"/>
          <p:cNvSpPr txBox="1"/>
          <p:nvPr/>
        </p:nvSpPr>
        <p:spPr>
          <a:xfrm>
            <a:off x="6473952" y="2807208"/>
            <a:ext cx="4928616"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Small biotech teams</a:t>
            </a:r>
          </a:p>
        </p:txBody>
      </p:sp>
      <p:sp>
        <p:nvSpPr>
          <p:cNvPr id="14" name="TextBox 13"/>
          <p:cNvSpPr txBox="1"/>
          <p:nvPr/>
        </p:nvSpPr>
        <p:spPr>
          <a:xfrm>
            <a:off x="6473952" y="3401568"/>
            <a:ext cx="4928616" cy="804671"/>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Connect measurements, structure</a:t>
            </a:r>
          </a:p>
          <a:p>
            <a:pPr>
              <a:lnSpc>
                <a:spcPct val="112000"/>
              </a:lnSpc>
              <a:spcBef>
                <a:spcPts val="0"/>
              </a:spcBef>
              <a:spcAft>
                <a:spcPts val="400"/>
              </a:spcAft>
              <a:defRPr sz="1800" b="0">
                <a:solidFill>
                  <a:srgbClr val="58706F"/>
                </a:solidFill>
                <a:latin typeface="Arial"/>
              </a:defRPr>
            </a:pPr>
            <a:r>
              <a:t>and source review in one record.</a:t>
            </a:r>
          </a:p>
        </p:txBody>
      </p:sp>
      <p:sp>
        <p:nvSpPr>
          <p:cNvPr id="15" name="Rounded Rectangle 14"/>
          <p:cNvSpPr/>
          <p:nvPr/>
        </p:nvSpPr>
        <p:spPr>
          <a:xfrm>
            <a:off x="594360" y="4846320"/>
            <a:ext cx="10991088" cy="1069848"/>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056632"/>
            <a:ext cx="210312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A5DFD0"/>
                </a:solidFill>
                <a:latin typeface="Arial"/>
              </a:defRPr>
            </a:pPr>
            <a:r>
              <a:t>FIRST PILOT JOB</a:t>
            </a:r>
          </a:p>
        </p:txBody>
      </p:sp>
      <p:sp>
        <p:nvSpPr>
          <p:cNvPr id="17" name="TextBox 16"/>
          <p:cNvSpPr txBox="1"/>
          <p:nvPr/>
        </p:nvSpPr>
        <p:spPr>
          <a:xfrm>
            <a:off x="2834640" y="5120640"/>
            <a:ext cx="8458200" cy="594360"/>
          </a:xfrm>
          <a:prstGeom prst="rect">
            <a:avLst/>
          </a:prstGeom>
          <a:noFill/>
        </p:spPr>
        <p:txBody>
          <a:bodyPr wrap="square" lIns="0" rIns="0" tIns="0" bIns="0">
            <a:spAutoFit/>
          </a:bodyPr>
          <a:lstStyle/>
          <a:p>
            <a:pPr>
              <a:lnSpc>
                <a:spcPct val="112000"/>
              </a:lnSpc>
              <a:spcBef>
                <a:spcPts val="0"/>
              </a:spcBef>
              <a:spcAft>
                <a:spcPts val="400"/>
              </a:spcAft>
              <a:defRPr sz="2400" b="1">
                <a:solidFill>
                  <a:srgbClr val="F2E9D7"/>
                </a:solidFill>
                <a:latin typeface="Arial"/>
              </a:defRPr>
            </a:pPr>
            <a:r>
              <a:t>A reviewed shortlist and a traceable next research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COMPETITIVE CONTEXT</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focused workflow in an established ecosystem</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13</a:t>
            </a:r>
          </a:p>
        </p:txBody>
      </p:sp>
      <p:sp>
        <p:nvSpPr>
          <p:cNvPr id="7" name="Rectangle 6"/>
          <p:cNvSpPr/>
          <p:nvPr/>
        </p:nvSpPr>
        <p:spPr>
          <a:xfrm>
            <a:off x="594360" y="1874519"/>
            <a:ext cx="7132320" cy="640080"/>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93391"/>
            <a:ext cx="1645919" cy="530352"/>
          </a:xfrm>
          <a:prstGeom prst="rect">
            <a:avLst/>
          </a:prstGeom>
          <a:noFill/>
        </p:spPr>
        <p:txBody>
          <a:bodyPr wrap="square" lIns="0" rIns="0" tIns="0" bIns="0">
            <a:spAutoFit/>
          </a:bodyPr>
          <a:lstStyle/>
          <a:p>
            <a:pPr>
              <a:lnSpc>
                <a:spcPct val="112000"/>
              </a:lnSpc>
              <a:spcBef>
                <a:spcPts val="0"/>
              </a:spcBef>
              <a:spcAft>
                <a:spcPts val="400"/>
              </a:spcAft>
              <a:defRPr sz="1800" b="1">
                <a:solidFill>
                  <a:srgbClr val="F2E9D7"/>
                </a:solidFill>
                <a:latin typeface="Arial"/>
              </a:defRPr>
            </a:pPr>
            <a:r>
              <a:t>Existing tool</a:t>
            </a:r>
          </a:p>
        </p:txBody>
      </p:sp>
      <p:sp>
        <p:nvSpPr>
          <p:cNvPr id="9" name="TextBox 8"/>
          <p:cNvSpPr txBox="1"/>
          <p:nvPr/>
        </p:nvSpPr>
        <p:spPr>
          <a:xfrm>
            <a:off x="2596896" y="1993391"/>
            <a:ext cx="5029200" cy="530352"/>
          </a:xfrm>
          <a:prstGeom prst="rect">
            <a:avLst/>
          </a:prstGeom>
          <a:noFill/>
        </p:spPr>
        <p:txBody>
          <a:bodyPr wrap="square" lIns="0" rIns="0" tIns="0" bIns="0">
            <a:spAutoFit/>
          </a:bodyPr>
          <a:lstStyle/>
          <a:p>
            <a:pPr>
              <a:lnSpc>
                <a:spcPct val="112000"/>
              </a:lnSpc>
              <a:spcBef>
                <a:spcPts val="0"/>
              </a:spcBef>
              <a:spcAft>
                <a:spcPts val="400"/>
              </a:spcAft>
              <a:defRPr sz="1800" b="1">
                <a:solidFill>
                  <a:srgbClr val="F2E9D7"/>
                </a:solidFill>
                <a:latin typeface="Arial"/>
              </a:defRPr>
            </a:pPr>
            <a:r>
              <a:t>Established focus</a:t>
            </a:r>
          </a:p>
        </p:txBody>
      </p:sp>
      <p:sp>
        <p:nvSpPr>
          <p:cNvPr id="10" name="Rectangle 9"/>
          <p:cNvSpPr/>
          <p:nvPr/>
        </p:nvSpPr>
        <p:spPr>
          <a:xfrm>
            <a:off x="594360" y="2514600"/>
            <a:ext cx="7132320" cy="64008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633472"/>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Benchling</a:t>
            </a:r>
          </a:p>
        </p:txBody>
      </p:sp>
      <p:sp>
        <p:nvSpPr>
          <p:cNvPr id="12" name="TextBox 11"/>
          <p:cNvSpPr txBox="1"/>
          <p:nvPr/>
        </p:nvSpPr>
        <p:spPr>
          <a:xfrm>
            <a:off x="2596896" y="2633472"/>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R&amp;D workflows, context and agents</a:t>
            </a:r>
          </a:p>
        </p:txBody>
      </p:sp>
      <p:sp>
        <p:nvSpPr>
          <p:cNvPr id="13" name="Rectangle 12"/>
          <p:cNvSpPr/>
          <p:nvPr/>
        </p:nvSpPr>
        <p:spPr>
          <a:xfrm>
            <a:off x="594360" y="3154679"/>
            <a:ext cx="7132320" cy="64008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3273551"/>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Galaxy</a:t>
            </a:r>
          </a:p>
        </p:txBody>
      </p:sp>
      <p:sp>
        <p:nvSpPr>
          <p:cNvPr id="15" name="TextBox 14"/>
          <p:cNvSpPr txBox="1"/>
          <p:nvPr/>
        </p:nvSpPr>
        <p:spPr>
          <a:xfrm>
            <a:off x="2596896" y="3273551"/>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Reproducible computational workflows</a:t>
            </a:r>
          </a:p>
        </p:txBody>
      </p:sp>
      <p:sp>
        <p:nvSpPr>
          <p:cNvPr id="16" name="Rectangle 15"/>
          <p:cNvSpPr/>
          <p:nvPr/>
        </p:nvSpPr>
        <p:spPr>
          <a:xfrm>
            <a:off x="594360" y="3794759"/>
            <a:ext cx="7132320" cy="64008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3913631"/>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MaveDB</a:t>
            </a:r>
          </a:p>
        </p:txBody>
      </p:sp>
      <p:sp>
        <p:nvSpPr>
          <p:cNvPr id="18" name="TextBox 17"/>
          <p:cNvSpPr txBox="1"/>
          <p:nvPr/>
        </p:nvSpPr>
        <p:spPr>
          <a:xfrm>
            <a:off x="2596896" y="3913631"/>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Variant-effect datasets and interpretation</a:t>
            </a:r>
          </a:p>
        </p:txBody>
      </p:sp>
      <p:sp>
        <p:nvSpPr>
          <p:cNvPr id="19" name="Rectangle 18"/>
          <p:cNvSpPr/>
          <p:nvPr/>
        </p:nvSpPr>
        <p:spPr>
          <a:xfrm>
            <a:off x="594360" y="4434840"/>
            <a:ext cx="7132320" cy="64008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4553712"/>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Europe PMC</a:t>
            </a:r>
          </a:p>
        </p:txBody>
      </p:sp>
      <p:sp>
        <p:nvSpPr>
          <p:cNvPr id="21" name="TextBox 20"/>
          <p:cNvSpPr txBox="1"/>
          <p:nvPr/>
        </p:nvSpPr>
        <p:spPr>
          <a:xfrm>
            <a:off x="2596896" y="4553712"/>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Life-science literature discovery</a:t>
            </a:r>
          </a:p>
        </p:txBody>
      </p:sp>
      <p:sp>
        <p:nvSpPr>
          <p:cNvPr id="22" name="TextBox 21"/>
          <p:cNvSpPr txBox="1"/>
          <p:nvPr/>
        </p:nvSpPr>
        <p:spPr>
          <a:xfrm>
            <a:off x="8247888" y="2103120"/>
            <a:ext cx="3200400" cy="731520"/>
          </a:xfrm>
          <a:prstGeom prst="rect">
            <a:avLst/>
          </a:prstGeom>
          <a:noFill/>
        </p:spPr>
        <p:txBody>
          <a:bodyPr wrap="square" lIns="0" rIns="0" tIns="0" bIns="0">
            <a:spAutoFit/>
          </a:bodyPr>
          <a:lstStyle/>
          <a:p>
            <a:pPr>
              <a:lnSpc>
                <a:spcPct val="112000"/>
              </a:lnSpc>
              <a:spcBef>
                <a:spcPts val="0"/>
              </a:spcBef>
              <a:spcAft>
                <a:spcPts val="400"/>
              </a:spcAft>
              <a:defRPr sz="4400" b="1">
                <a:solidFill>
                  <a:srgbClr val="193B3B"/>
                </a:solidFill>
                <a:latin typeface="Arial"/>
              </a:defRPr>
            </a:pPr>
            <a:r>
              <a:t>$3.65B</a:t>
            </a:r>
          </a:p>
        </p:txBody>
      </p:sp>
      <p:sp>
        <p:nvSpPr>
          <p:cNvPr id="23" name="TextBox 22"/>
          <p:cNvSpPr txBox="1"/>
          <p:nvPr/>
        </p:nvSpPr>
        <p:spPr>
          <a:xfrm>
            <a:off x="8247888" y="2999232"/>
            <a:ext cx="3291840" cy="914400"/>
          </a:xfrm>
          <a:prstGeom prst="rect">
            <a:avLst/>
          </a:prstGeom>
          <a:noFill/>
        </p:spPr>
        <p:txBody>
          <a:bodyPr wrap="square" lIns="0" rIns="0" tIns="0" bIns="0">
            <a:spAutoFit/>
          </a:bodyPr>
          <a:lstStyle/>
          <a:p>
            <a:pPr>
              <a:lnSpc>
                <a:spcPct val="112000"/>
              </a:lnSpc>
              <a:spcBef>
                <a:spcPts val="0"/>
              </a:spcBef>
              <a:spcAft>
                <a:spcPts val="400"/>
              </a:spcAft>
              <a:defRPr sz="1900" b="0">
                <a:solidFill>
                  <a:srgbClr val="58706F"/>
                </a:solidFill>
                <a:latin typeface="Arial"/>
              </a:defRPr>
            </a:pPr>
            <a:r>
              <a:t>2024 global drug-discovery</a:t>
            </a:r>
          </a:p>
          <a:p>
            <a:pPr>
              <a:lnSpc>
                <a:spcPct val="112000"/>
              </a:lnSpc>
              <a:spcBef>
                <a:spcPts val="0"/>
              </a:spcBef>
              <a:spcAft>
                <a:spcPts val="400"/>
              </a:spcAft>
              <a:defRPr sz="1900" b="0">
                <a:solidFill>
                  <a:srgbClr val="58706F"/>
                </a:solidFill>
                <a:latin typeface="Arial"/>
              </a:defRPr>
            </a:pPr>
            <a:r>
              <a:t>informatics estimate</a:t>
            </a:r>
          </a:p>
        </p:txBody>
      </p:sp>
      <p:sp>
        <p:nvSpPr>
          <p:cNvPr id="24" name="TextBox 23"/>
          <p:cNvSpPr txBox="1"/>
          <p:nvPr/>
        </p:nvSpPr>
        <p:spPr>
          <a:xfrm>
            <a:off x="8247888" y="4297680"/>
            <a:ext cx="3291840" cy="1051560"/>
          </a:xfrm>
          <a:prstGeom prst="rect">
            <a:avLst/>
          </a:prstGeom>
          <a:noFill/>
        </p:spPr>
        <p:txBody>
          <a:bodyPr wrap="square" lIns="0" rIns="0" tIns="0" bIns="0">
            <a:spAutoFit/>
          </a:bodyPr>
          <a:lstStyle/>
          <a:p>
            <a:pPr>
              <a:lnSpc>
                <a:spcPct val="112000"/>
              </a:lnSpc>
              <a:spcBef>
                <a:spcPts val="0"/>
              </a:spcBef>
              <a:spcAft>
                <a:spcPts val="400"/>
              </a:spcAft>
              <a:defRPr sz="1500" b="0">
                <a:solidFill>
                  <a:srgbClr val="58706F"/>
                </a:solidFill>
                <a:latin typeface="Arial"/>
              </a:defRPr>
            </a:pPr>
            <a:r>
              <a:t>Broad category context</a:t>
            </a:r>
          </a:p>
          <a:p>
            <a:pPr>
              <a:lnSpc>
                <a:spcPct val="112000"/>
              </a:lnSpc>
              <a:spcBef>
                <a:spcPts val="0"/>
              </a:spcBef>
              <a:spcAft>
                <a:spcPts val="400"/>
              </a:spcAft>
              <a:defRPr sz="1500" b="0">
                <a:solidFill>
                  <a:srgbClr val="58706F"/>
                </a:solidFill>
                <a:latin typeface="Arial"/>
              </a:defRPr>
            </a:pPr>
            <a:r>
              <a:t>Grand View Research</a:t>
            </a:r>
          </a:p>
          <a:p>
            <a:pPr>
              <a:lnSpc>
                <a:spcPct val="112000"/>
              </a:lnSpc>
              <a:spcBef>
                <a:spcPts val="0"/>
              </a:spcBef>
              <a:spcAft>
                <a:spcPts val="400"/>
              </a:spcAft>
              <a:defRPr sz="1500" b="0">
                <a:solidFill>
                  <a:srgbClr val="58706F"/>
                </a:solidFill>
                <a:latin typeface="Arial"/>
              </a:defRPr>
            </a:pPr>
            <a:r>
              <a:t>Not our addressable market</a:t>
            </a:r>
          </a:p>
        </p:txBody>
      </p:sp>
      <p:sp>
        <p:nvSpPr>
          <p:cNvPr id="25" name="Rectangle 24"/>
          <p:cNvSpPr/>
          <p:nvPr/>
        </p:nvSpPr>
        <p:spPr>
          <a:xfrm>
            <a:off x="594360" y="5486400"/>
            <a:ext cx="10991088" cy="594360"/>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632704"/>
            <a:ext cx="10607040" cy="320040"/>
          </a:xfrm>
          <a:prstGeom prst="rect">
            <a:avLst/>
          </a:prstGeom>
          <a:noFill/>
        </p:spPr>
        <p:txBody>
          <a:bodyPr wrap="square" lIns="0" rIns="0" tIns="0" bIns="0">
            <a:spAutoFit/>
          </a:bodyPr>
          <a:lstStyle/>
          <a:p>
            <a:pPr>
              <a:lnSpc>
                <a:spcPct val="112000"/>
              </a:lnSpc>
              <a:spcBef>
                <a:spcPts val="0"/>
              </a:spcBef>
              <a:spcAft>
                <a:spcPts val="400"/>
              </a:spcAft>
              <a:defRPr sz="1900" b="0">
                <a:solidFill>
                  <a:srgbClr val="F2E9D7"/>
                </a:solidFill>
                <a:latin typeface="Arial"/>
              </a:defRPr>
            </a:pPr>
            <a:r>
              <a:t>Our proposed focus: one inspectable decision, from declared criteria to unresolved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BUSINESS MODEL HYPOTHESIS</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Charge for a bounded research workspace</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14</a:t>
            </a:r>
          </a:p>
        </p:txBody>
      </p:sp>
      <p:sp>
        <p:nvSpPr>
          <p:cNvPr id="7" name="Rounded Rectangle 6"/>
          <p:cNvSpPr/>
          <p:nvPr/>
        </p:nvSpPr>
        <p:spPr>
          <a:xfrm>
            <a:off x="594360" y="1938528"/>
            <a:ext cx="5285232" cy="205740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491947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Individual researcher</a:t>
            </a:r>
          </a:p>
        </p:txBody>
      </p:sp>
      <p:sp>
        <p:nvSpPr>
          <p:cNvPr id="9" name="TextBox 8"/>
          <p:cNvSpPr txBox="1"/>
          <p:nvPr/>
        </p:nvSpPr>
        <p:spPr>
          <a:xfrm>
            <a:off x="777240" y="2743200"/>
            <a:ext cx="4919472" cy="116128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US$30 / month · proposed</a:t>
            </a:r>
          </a:p>
          <a:p>
            <a:pPr>
              <a:lnSpc>
                <a:spcPct val="112000"/>
              </a:lnSpc>
              <a:spcBef>
                <a:spcPts val="0"/>
              </a:spcBef>
              <a:spcAft>
                <a:spcPts val="400"/>
              </a:spcAft>
              <a:defRPr sz="1800" b="0">
                <a:solidFill>
                  <a:srgbClr val="58706F"/>
                </a:solidFill>
                <a:latin typeface="Arial"/>
              </a:defRPr>
            </a:pPr>
            <a:r>
              <a:t>Bounded usage; validate with pilots.</a:t>
            </a:r>
          </a:p>
        </p:txBody>
      </p:sp>
      <p:sp>
        <p:nvSpPr>
          <p:cNvPr id="10" name="Rounded Rectangle 9"/>
          <p:cNvSpPr/>
          <p:nvPr/>
        </p:nvSpPr>
        <p:spPr>
          <a:xfrm>
            <a:off x="6291072" y="1938528"/>
            <a:ext cx="5294376" cy="205740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148840"/>
            <a:ext cx="4928616"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Small laboratory</a:t>
            </a:r>
          </a:p>
        </p:txBody>
      </p:sp>
      <p:sp>
        <p:nvSpPr>
          <p:cNvPr id="12" name="TextBox 11"/>
          <p:cNvSpPr txBox="1"/>
          <p:nvPr/>
        </p:nvSpPr>
        <p:spPr>
          <a:xfrm>
            <a:off x="6473952" y="2743200"/>
            <a:ext cx="4928616" cy="116128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US$300 / month · proposed</a:t>
            </a:r>
          </a:p>
          <a:p>
            <a:pPr>
              <a:lnSpc>
                <a:spcPct val="112000"/>
              </a:lnSpc>
              <a:spcBef>
                <a:spcPts val="0"/>
              </a:spcBef>
              <a:spcAft>
                <a:spcPts val="400"/>
              </a:spcAft>
              <a:defRPr sz="1800" b="0">
                <a:solidFill>
                  <a:srgbClr val="58706F"/>
                </a:solidFill>
                <a:latin typeface="Arial"/>
              </a:defRPr>
            </a:pPr>
            <a:r>
              <a:t>Shared review workflow; bounded usage.</a:t>
            </a:r>
          </a:p>
        </p:txBody>
      </p:sp>
      <p:sp>
        <p:nvSpPr>
          <p:cNvPr id="13" name="TextBox 12"/>
          <p:cNvSpPr txBox="1"/>
          <p:nvPr/>
        </p:nvSpPr>
        <p:spPr>
          <a:xfrm>
            <a:off x="594360" y="4572000"/>
            <a:ext cx="7589520" cy="59436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20 labs × $300 / month × 12</a:t>
            </a:r>
          </a:p>
        </p:txBody>
      </p:sp>
      <p:sp>
        <p:nvSpPr>
          <p:cNvPr id="14" name="TextBox 13"/>
          <p:cNvSpPr txBox="1"/>
          <p:nvPr/>
        </p:nvSpPr>
        <p:spPr>
          <a:xfrm>
            <a:off x="594360" y="5376672"/>
            <a:ext cx="7589520" cy="594360"/>
          </a:xfrm>
          <a:prstGeom prst="rect">
            <a:avLst/>
          </a:prstGeom>
          <a:noFill/>
        </p:spPr>
        <p:txBody>
          <a:bodyPr wrap="square" lIns="0" rIns="0" tIns="0" bIns="0">
            <a:spAutoFit/>
          </a:bodyPr>
          <a:lstStyle/>
          <a:p>
            <a:pPr>
              <a:lnSpc>
                <a:spcPct val="112000"/>
              </a:lnSpc>
              <a:spcBef>
                <a:spcPts val="0"/>
              </a:spcBef>
              <a:spcAft>
                <a:spcPts val="400"/>
              </a:spcAft>
              <a:defRPr sz="3400" b="1">
                <a:solidFill>
                  <a:srgbClr val="9E5837"/>
                </a:solidFill>
                <a:latin typeface="Arial"/>
              </a:defRPr>
            </a:pPr>
            <a:r>
              <a:t>= $72,000 / year</a:t>
            </a:r>
          </a:p>
        </p:txBody>
      </p:sp>
      <p:sp>
        <p:nvSpPr>
          <p:cNvPr id="15" name="Rounded Rectangle 14"/>
          <p:cNvSpPr/>
          <p:nvPr/>
        </p:nvSpPr>
        <p:spPr>
          <a:xfrm>
            <a:off x="8229600" y="5074920"/>
            <a:ext cx="3355848" cy="329184"/>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7" y="5134356"/>
            <a:ext cx="3136391"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ILLUSTRATIVE · NOT TRACTION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ADOPTION AND EVALUATION</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Pilot the decision, then earn expansion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15</a:t>
            </a:r>
          </a:p>
        </p:txBody>
      </p:sp>
      <p:sp>
        <p:nvSpPr>
          <p:cNvPr id="7" name="Rounded Rectangle 6"/>
          <p:cNvSpPr/>
          <p:nvPr/>
        </p:nvSpPr>
        <p:spPr>
          <a:xfrm>
            <a:off x="594360" y="2057400"/>
            <a:ext cx="3502152" cy="257860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67712"/>
            <a:ext cx="313639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01  Partner</a:t>
            </a:r>
          </a:p>
        </p:txBody>
      </p:sp>
      <p:sp>
        <p:nvSpPr>
          <p:cNvPr id="9" name="TextBox 8"/>
          <p:cNvSpPr txBox="1"/>
          <p:nvPr/>
        </p:nvSpPr>
        <p:spPr>
          <a:xfrm>
            <a:off x="777240" y="2862072"/>
            <a:ext cx="3136392" cy="1682495"/>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Recruit 3–5 labs.</a:t>
            </a:r>
          </a:p>
          <a:p>
            <a:pPr>
              <a:lnSpc>
                <a:spcPct val="112000"/>
              </a:lnSpc>
              <a:spcBef>
                <a:spcPts val="0"/>
              </a:spcBef>
              <a:spcAft>
                <a:spcPts val="400"/>
              </a:spcAft>
              <a:defRPr sz="1800" b="0">
                <a:solidFill>
                  <a:srgbClr val="58706F"/>
                </a:solidFill>
                <a:latin typeface="Arial"/>
              </a:defRPr>
            </a:pPr>
            <a:r>
              <a:t>Agree on a bounded question.</a:t>
            </a:r>
          </a:p>
        </p:txBody>
      </p:sp>
      <p:sp>
        <p:nvSpPr>
          <p:cNvPr id="10" name="Rounded Rectangle 9"/>
          <p:cNvSpPr/>
          <p:nvPr/>
        </p:nvSpPr>
        <p:spPr>
          <a:xfrm>
            <a:off x="4325112" y="2057400"/>
            <a:ext cx="3502152" cy="257860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267712"/>
            <a:ext cx="313639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02  Evaluate</a:t>
            </a:r>
          </a:p>
        </p:txBody>
      </p:sp>
      <p:sp>
        <p:nvSpPr>
          <p:cNvPr id="12" name="TextBox 11"/>
          <p:cNvSpPr txBox="1"/>
          <p:nvPr/>
        </p:nvSpPr>
        <p:spPr>
          <a:xfrm>
            <a:off x="4507992" y="2862072"/>
            <a:ext cx="3136392" cy="1682495"/>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Expert review + task success.</a:t>
            </a:r>
          </a:p>
          <a:p>
            <a:pPr>
              <a:lnSpc>
                <a:spcPct val="112000"/>
              </a:lnSpc>
              <a:spcBef>
                <a:spcPts val="0"/>
              </a:spcBef>
              <a:spcAft>
                <a:spcPts val="400"/>
              </a:spcAft>
              <a:defRPr sz="1800" b="0">
                <a:solidFill>
                  <a:srgbClr val="58706F"/>
                </a:solidFill>
                <a:latin typeface="Arial"/>
              </a:defRPr>
            </a:pPr>
            <a:r>
              <a:t>Measure time and errors.</a:t>
            </a:r>
          </a:p>
        </p:txBody>
      </p:sp>
      <p:sp>
        <p:nvSpPr>
          <p:cNvPr id="13" name="Rounded Rectangle 12"/>
          <p:cNvSpPr/>
          <p:nvPr/>
        </p:nvSpPr>
        <p:spPr>
          <a:xfrm>
            <a:off x="8055864" y="2057400"/>
            <a:ext cx="3502152" cy="257860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2267712"/>
            <a:ext cx="313639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03  Expand</a:t>
            </a:r>
          </a:p>
        </p:txBody>
      </p:sp>
      <p:sp>
        <p:nvSpPr>
          <p:cNvPr id="15" name="TextBox 14"/>
          <p:cNvSpPr txBox="1"/>
          <p:nvPr/>
        </p:nvSpPr>
        <p:spPr>
          <a:xfrm>
            <a:off x="8238744" y="2862072"/>
            <a:ext cx="3136392" cy="1682495"/>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Validate the next gene.</a:t>
            </a:r>
          </a:p>
          <a:p>
            <a:pPr>
              <a:lnSpc>
                <a:spcPct val="112000"/>
              </a:lnSpc>
              <a:spcBef>
                <a:spcPts val="0"/>
              </a:spcBef>
              <a:spcAft>
                <a:spcPts val="400"/>
              </a:spcAft>
              <a:defRPr sz="1800" b="0">
                <a:solidFill>
                  <a:srgbClr val="58706F"/>
                </a:solidFill>
                <a:latin typeface="Arial"/>
              </a:defRPr>
            </a:pPr>
            <a:r>
              <a:t>Test repeat use and lab fit.</a:t>
            </a:r>
          </a:p>
        </p:txBody>
      </p:sp>
      <p:sp>
        <p:nvSpPr>
          <p:cNvPr id="16" name="TextBox 15"/>
          <p:cNvSpPr txBox="1"/>
          <p:nvPr/>
        </p:nvSpPr>
        <p:spPr>
          <a:xfrm>
            <a:off x="594360" y="5138928"/>
            <a:ext cx="4572000" cy="502920"/>
          </a:xfrm>
          <a:prstGeom prst="rect">
            <a:avLst/>
          </a:prstGeom>
          <a:noFill/>
        </p:spPr>
        <p:txBody>
          <a:bodyPr wrap="square" lIns="0" rIns="0" tIns="0" bIns="0">
            <a:spAutoFit/>
          </a:bodyPr>
          <a:lstStyle/>
          <a:p>
            <a:pPr>
              <a:lnSpc>
                <a:spcPct val="112000"/>
              </a:lnSpc>
              <a:spcBef>
                <a:spcPts val="0"/>
              </a:spcBef>
              <a:spcAft>
                <a:spcPts val="400"/>
              </a:spcAft>
              <a:defRPr sz="2700" b="1">
                <a:solidFill>
                  <a:srgbClr val="193B3B"/>
                </a:solidFill>
                <a:latin typeface="Arial"/>
              </a:defRPr>
            </a:pPr>
            <a:r>
              <a:t>What earns the next stage?</a:t>
            </a:r>
          </a:p>
        </p:txBody>
      </p:sp>
      <p:sp>
        <p:nvSpPr>
          <p:cNvPr id="17" name="TextBox 16"/>
          <p:cNvSpPr txBox="1"/>
          <p:nvPr/>
        </p:nvSpPr>
        <p:spPr>
          <a:xfrm>
            <a:off x="5852160" y="5047488"/>
            <a:ext cx="5733288" cy="1097280"/>
          </a:xfrm>
          <a:prstGeom prst="rect">
            <a:avLst/>
          </a:prstGeom>
          <a:noFill/>
        </p:spPr>
        <p:txBody>
          <a:bodyPr wrap="square" lIns="0" rIns="0" tIns="0" bIns="0">
            <a:spAutoFit/>
          </a:bodyPr>
          <a:lstStyle/>
          <a:p>
            <a:pPr>
              <a:lnSpc>
                <a:spcPct val="112000"/>
              </a:lnSpc>
              <a:spcBef>
                <a:spcPts val="0"/>
              </a:spcBef>
              <a:spcAft>
                <a:spcPts val="400"/>
              </a:spcAft>
              <a:defRPr sz="2400" b="1">
                <a:solidFill>
                  <a:srgbClr val="226B60"/>
                </a:solidFill>
                <a:latin typeface="Arial"/>
              </a:defRPr>
            </a:pPr>
            <a:r>
              <a:t>Traceable results. Useful unknowns.</a:t>
            </a:r>
          </a:p>
          <a:p>
            <a:pPr>
              <a:lnSpc>
                <a:spcPct val="112000"/>
              </a:lnSpc>
              <a:spcBef>
                <a:spcPts val="0"/>
              </a:spcBef>
              <a:spcAft>
                <a:spcPts val="400"/>
              </a:spcAft>
              <a:defRPr sz="2400" b="1">
                <a:solidFill>
                  <a:srgbClr val="226B60"/>
                </a:solidFill>
                <a:latin typeface="Arial"/>
              </a:defRPr>
            </a:pPr>
            <a:r>
              <a:t>Researchers who return.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ASK</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Help shape a research decision worth trusting</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16</a:t>
            </a:r>
          </a:p>
        </p:txBody>
      </p:sp>
      <p:pic>
        <p:nvPicPr>
          <p:cNvPr id="7" name="Picture 6" descr="emblem.png"/>
          <p:cNvPicPr>
            <a:picLocks noChangeAspect="1"/>
          </p:cNvPicPr>
          <p:nvPr/>
        </p:nvPicPr>
        <p:blipFill>
          <a:blip r:embed="rId3"/>
          <a:stretch>
            <a:fillRect/>
          </a:stretch>
        </p:blipFill>
        <p:spPr>
          <a:xfrm>
            <a:off x="676656" y="1885235"/>
            <a:ext cx="1188720" cy="1578768"/>
          </a:xfrm>
          <a:prstGeom prst="rect">
            <a:avLst/>
          </a:prstGeom>
        </p:spPr>
      </p:pic>
      <p:sp>
        <p:nvSpPr>
          <p:cNvPr id="8" name="TextBox 7"/>
          <p:cNvSpPr txBox="1"/>
          <p:nvPr/>
        </p:nvSpPr>
        <p:spPr>
          <a:xfrm>
            <a:off x="2423160" y="2048256"/>
            <a:ext cx="8961120" cy="758952"/>
          </a:xfrm>
          <a:prstGeom prst="rect">
            <a:avLst/>
          </a:prstGeom>
          <a:noFill/>
        </p:spPr>
        <p:txBody>
          <a:bodyPr wrap="square" lIns="0" rIns="0" tIns="0" bIns="0">
            <a:spAutoFit/>
          </a:bodyPr>
          <a:lstStyle/>
          <a:p>
            <a:pPr>
              <a:lnSpc>
                <a:spcPct val="112000"/>
              </a:lnSpc>
              <a:spcBef>
                <a:spcPts val="0"/>
              </a:spcBef>
              <a:spcAft>
                <a:spcPts val="400"/>
              </a:spcAft>
              <a:defRPr sz="3800" b="1">
                <a:solidFill>
                  <a:srgbClr val="193B3B"/>
                </a:solidFill>
                <a:latin typeface="Arial"/>
              </a:defRPr>
            </a:pPr>
            <a:r>
              <a:t>Bring one research question.</a:t>
            </a:r>
          </a:p>
        </p:txBody>
      </p:sp>
      <p:sp>
        <p:nvSpPr>
          <p:cNvPr id="9" name="TextBox 8"/>
          <p:cNvSpPr txBox="1"/>
          <p:nvPr/>
        </p:nvSpPr>
        <p:spPr>
          <a:xfrm>
            <a:off x="2423160" y="3035808"/>
            <a:ext cx="8869680" cy="594360"/>
          </a:xfrm>
          <a:prstGeom prst="rect">
            <a:avLst/>
          </a:prstGeom>
          <a:noFill/>
        </p:spPr>
        <p:txBody>
          <a:bodyPr wrap="square" lIns="0" rIns="0" tIns="0" bIns="0">
            <a:spAutoFit/>
          </a:bodyPr>
          <a:lstStyle/>
          <a:p>
            <a:pPr>
              <a:lnSpc>
                <a:spcPct val="112000"/>
              </a:lnSpc>
              <a:spcBef>
                <a:spcPts val="0"/>
              </a:spcBef>
              <a:spcAft>
                <a:spcPts val="400"/>
              </a:spcAft>
              <a:defRPr sz="2600" b="0">
                <a:solidFill>
                  <a:srgbClr val="58706F"/>
                </a:solidFill>
                <a:latin typeface="Arial"/>
              </a:defRPr>
            </a:pPr>
            <a:r>
              <a:t>Seeking pilot labs and scientific advisers.</a:t>
            </a:r>
          </a:p>
        </p:txBody>
      </p:sp>
      <p:cxnSp>
        <p:nvCxnSpPr>
          <p:cNvPr id="10" name="Connector 9"/>
          <p:cNvCxnSpPr/>
          <p:nvPr/>
        </p:nvCxnSpPr>
        <p:spPr>
          <a:xfrm>
            <a:off x="594360" y="4690872"/>
            <a:ext cx="3502152" cy="0"/>
          </a:xfrm>
          <a:prstGeom prst="line">
            <a:avLst/>
          </a:prstGeom>
          <a:ln w="25400">
            <a:solidFill>
              <a:srgbClr val="226B6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4937760"/>
            <a:ext cx="3474720" cy="457200"/>
          </a:xfrm>
          <a:prstGeom prst="rect">
            <a:avLst/>
          </a:prstGeom>
          <a:noFill/>
        </p:spPr>
        <p:txBody>
          <a:bodyPr wrap="square" lIns="0" rIns="0" tIns="0" bIns="0">
            <a:spAutoFit/>
          </a:bodyPr>
          <a:lstStyle/>
          <a:p>
            <a:pPr>
              <a:lnSpc>
                <a:spcPct val="112000"/>
              </a:lnSpc>
              <a:spcBef>
                <a:spcPts val="0"/>
              </a:spcBef>
              <a:spcAft>
                <a:spcPts val="400"/>
              </a:spcAft>
              <a:defRPr sz="2800" b="1">
                <a:solidFill>
                  <a:srgbClr val="9E5837"/>
                </a:solidFill>
                <a:latin typeface="Arial"/>
              </a:defRPr>
            </a:pPr>
            <a:r>
              <a:t>01</a:t>
            </a:r>
          </a:p>
        </p:txBody>
      </p:sp>
      <p:sp>
        <p:nvSpPr>
          <p:cNvPr id="12" name="TextBox 11"/>
          <p:cNvSpPr txBox="1"/>
          <p:nvPr/>
        </p:nvSpPr>
        <p:spPr>
          <a:xfrm>
            <a:off x="594360" y="5577840"/>
            <a:ext cx="347472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Verify Argon execution</a:t>
            </a:r>
          </a:p>
        </p:txBody>
      </p:sp>
      <p:cxnSp>
        <p:nvCxnSpPr>
          <p:cNvPr id="13" name="Connector 12"/>
          <p:cNvCxnSpPr/>
          <p:nvPr/>
        </p:nvCxnSpPr>
        <p:spPr>
          <a:xfrm>
            <a:off x="4325112" y="4690872"/>
            <a:ext cx="3502152" cy="0"/>
          </a:xfrm>
          <a:prstGeom prst="line">
            <a:avLst/>
          </a:prstGeom>
          <a:ln w="25400">
            <a:solidFill>
              <a:srgbClr val="226B6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5112" y="4937760"/>
            <a:ext cx="3474720" cy="457200"/>
          </a:xfrm>
          <a:prstGeom prst="rect">
            <a:avLst/>
          </a:prstGeom>
          <a:noFill/>
        </p:spPr>
        <p:txBody>
          <a:bodyPr wrap="square" lIns="0" rIns="0" tIns="0" bIns="0">
            <a:spAutoFit/>
          </a:bodyPr>
          <a:lstStyle/>
          <a:p>
            <a:pPr>
              <a:lnSpc>
                <a:spcPct val="112000"/>
              </a:lnSpc>
              <a:spcBef>
                <a:spcPts val="0"/>
              </a:spcBef>
              <a:spcAft>
                <a:spcPts val="400"/>
              </a:spcAft>
              <a:defRPr sz="2800" b="1">
                <a:solidFill>
                  <a:srgbClr val="9E5837"/>
                </a:solidFill>
                <a:latin typeface="Arial"/>
              </a:defRPr>
            </a:pPr>
            <a:r>
              <a:t>02</a:t>
            </a:r>
          </a:p>
        </p:txBody>
      </p:sp>
      <p:sp>
        <p:nvSpPr>
          <p:cNvPr id="15" name="TextBox 14"/>
          <p:cNvSpPr txBox="1"/>
          <p:nvPr/>
        </p:nvSpPr>
        <p:spPr>
          <a:xfrm>
            <a:off x="4325112" y="5577840"/>
            <a:ext cx="347472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Evaluate with researchers</a:t>
            </a:r>
          </a:p>
        </p:txBody>
      </p:sp>
      <p:cxnSp>
        <p:nvCxnSpPr>
          <p:cNvPr id="16" name="Connector 15"/>
          <p:cNvCxnSpPr/>
          <p:nvPr/>
        </p:nvCxnSpPr>
        <p:spPr>
          <a:xfrm>
            <a:off x="8055864" y="4690872"/>
            <a:ext cx="3502152" cy="0"/>
          </a:xfrm>
          <a:prstGeom prst="line">
            <a:avLst/>
          </a:prstGeom>
          <a:ln w="25400">
            <a:solidFill>
              <a:srgbClr val="226B6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55864" y="4937760"/>
            <a:ext cx="3474720" cy="457200"/>
          </a:xfrm>
          <a:prstGeom prst="rect">
            <a:avLst/>
          </a:prstGeom>
          <a:noFill/>
        </p:spPr>
        <p:txBody>
          <a:bodyPr wrap="square" lIns="0" rIns="0" tIns="0" bIns="0">
            <a:spAutoFit/>
          </a:bodyPr>
          <a:lstStyle/>
          <a:p>
            <a:pPr>
              <a:lnSpc>
                <a:spcPct val="112000"/>
              </a:lnSpc>
              <a:spcBef>
                <a:spcPts val="0"/>
              </a:spcBef>
              <a:spcAft>
                <a:spcPts val="400"/>
              </a:spcAft>
              <a:defRPr sz="2800" b="1">
                <a:solidFill>
                  <a:srgbClr val="9E5837"/>
                </a:solidFill>
                <a:latin typeface="Arial"/>
              </a:defRPr>
            </a:pPr>
            <a:r>
              <a:t>03</a:t>
            </a:r>
          </a:p>
        </p:txBody>
      </p:sp>
      <p:sp>
        <p:nvSpPr>
          <p:cNvPr id="18" name="TextBox 17"/>
          <p:cNvSpPr txBox="1"/>
          <p:nvPr/>
        </p:nvSpPr>
        <p:spPr>
          <a:xfrm>
            <a:off x="8055864" y="5577840"/>
            <a:ext cx="347472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Validate gene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Bramha Atlas — From scattered evidence to a reviewable research decision</dc:title>
  <dc:subject>PTEN research prototype, verified artifacts and design-partner proposal</dc:subject>
  <dc:creator>Bramha Atlas</dc:creator>
  <cp:keywords>PTEN, research, evidence, computational analysis, pitch</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